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trang bìa."/>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trang bìa.</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Giới thiệu tên đề tài, thành viên và giảng viên hướng dẫn. Đề tài xây dựng ứng dụng quản lý công việc cá nhân, đồng thời hỗ trợ cộng tác nhóm nhỏ.</a:t>
            </a:r>
            <a:endParaRPr lang="vi-VN" sz="105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1.1 và Phát biểu bài toán, chương 3."/>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1.1 và Phát biểu bài toán, chương 3.</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Khi nhiệm vụ được lưu rải rác trong sổ tay hoặc tệp riêng, người dùng khó theo dõi thời hạn. Trong nhóm, nhu cầu còn bao gồm xác định người phụ trách và cập nhật kết quả. Ứng dụng tập trung những thao tác này trên thiết bị di động.</a:t>
            </a:r>
            <a:endParaRPr lang="vi-VN" sz="105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1.2–1.5."/>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1.2–1.5.</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Mục tiêu là xây dựng một ứng dụng dễ sử dụng, kết nối giao diện, API và dữ liệu. Phạm vi là cá nhân và nhóm nhỏ. Android là môi trường kiểm tra trực tiếp. Khả năng đa nền tảng đến từ công nghệ React Native, không đồng nghĩa đã kiểm thử đầy đủ trên iOS.</a:t>
            </a:r>
            <a:endParaRPr lang="vi-VN" sz="105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2.2, 2.3 và chương 4: Môi trường và công nghệ phát triển, Triển khai ứng dụng."/>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2.2, 2.3 và chương 4: Môi trường và công nghệ phát triển, Triển khai ứng dụng.</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JavaScript là ngôn ngữ chính. Mobile gửi yêu cầu qua API, Express xử lý nghiệp vụ và Sequelize truy cập MySQL. AsyncStorage lưu thông tin phiên cùng một số thiết lập cục bộ. Trong phát triển, Android cần kết nối Metro. Bản phát hành đóng gói mã ứng dụng nhưng dữ liệu vẫn cần backend.</a:t>
            </a:r>
            <a:endParaRPr lang="vi-VN" sz="105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Đặc tả yêu cầu phần mềm, Hình 3-1 và chương 4 mục 4.2.4–4.2.6."/>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Đặc tả yêu cầu phần mềm, Hình 3-1 và chương 4 mục 4.2.4–4.2.6.</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Use Case tổng quát có User và Admin. Trưởng nhóm là vai trò trong từng nhóm, có trách nhiệm quản lý thành viên và phân công nhiệm vụ. Chức năng quản trị tài khoản có giao diện riêng, còn phân quyền nâng cao vẫn là hướng phát triển.</a:t>
            </a:r>
            <a:endParaRPr lang="vi-VN" sz="105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3.2.3, Hình 3-7 và mục Triển khai cơ sở dữ liệu."/>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3.2.3, Hình 3-7 và mục Triển khai cơ sở dữ liệu.</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Mô hình liên kết tài khoản với công việc, danh mục và nhóm. Bảng thành viên xác định người tham gia và vai trò. Công việc nhóm gắn người giao và người nhận. Backend dùng Sequelize, migration cho thay đổi cấu trúc và giao dịch khi nhiều bản ghi cần nhất quán. Các bảng nhắc nhở trong thiết kế không chứng minh chức năng thông báo đã hoàn thiện.</a:t>
            </a:r>
            <a:endParaRPr lang="vi-VN" sz="105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Bảng 3-6 và Hình 3-9."/>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Bảng 3-6 và Hình 3-9.</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Người dùng mở biểu mẫu, nhập tiêu đề, mô tả, thời hạn và ưu tiên. Khi lưu, hệ thống kiểm tra dữ liệu và gửi yêu cầu xử lý. Nếu dữ liệu hợp lệ, backend lưu và trả kết quả để cập nhật danh sách. Cần phản hồi rõ khi thiếu thông tin, dữ liệu sai hoặc lỗi lưu trữ.</a:t>
            </a:r>
            <a:endParaRPr lang="vi-VN" sz="105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4.2.1–4.2.2, ảnh tại mục 3.3.1, 3.3.2 và 3.3.7."/>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4.2.1–4.2.2, ảnh tại mục 3.3.1, 3.3.2 và 3.3.7.</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Ứng dụng kiểm tra thông tin khi đăng ký, đăng nhập và thiết lập phiên làm việc. Mật khẩu lưu dưới dạng băm. Người dùng chỉnh sửa hồ sơ và đổi mật khẩu trong phạm vi tài khoản của mình. Các ảnh minh họa lần lượt là đăng nhập, đăng ký và cá nhân.</a:t>
            </a:r>
            <a:endParaRPr lang="vi-VN" sz="105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Bảng 3-5, Bảng 3-6, mục 4.2.3 và ảnh giao diện công việc tại mục 3.3.4."/>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Bảng 3-5, Bảng 3-6, mục 4.2.3 và ảnh giao diện công việc tại mục 3.3.4.</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Người dùng tạo, sửa, xóa công việc, gán thời hạn và mức ưu tiên. Công việc có các trạng thái chưa làm, đang làm, hoàn thành. Danh sách hoặc bảng giúp theo dõi nhiệm vụ. Báo cáo cũng mô tả thùng rác để xử lý công việc đã xóa.</a:t>
            </a:r>
            <a:endParaRPr lang="vi-VN" sz="105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4.2.4–4.2.6 và ảnh khu vực nhóm trong mục 3.3.6."/>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4.2.4–4.2.6 và ảnh khu vực nhóm trong mục 3.3.6.</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Trong báo cáo, dự án được dùng để chỉ nhóm công việc. Người tạo nhóm giữ vai trò trưởng nhóm, quản lý thành viên và giao việc. Backend kiểm tra thành viên và vai trò trước khi cho phép thay đổi. Ảnh minh họa thể hiện trưởng nhóm, thành viên và các thao tác quản lý nhóm.</a:t>
            </a:r>
            <a:endParaRPr lang="vi-VN" sz="105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4.2.3, 4.2.7 và ảnh tại mục 3.3.3, 3.3.5."/>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4.2.3, 4.2.7 và ảnh tại mục 3.3.3, 3.3.5.</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Lịch cho phép xem nhiệm vụ theo ngày, còn trang chủ hiển thị tình hình công việc. Các số trong ảnh chỉ là dữ liệu giao diện minh họa, không phải kết quả đánh giá hiệu quả. Phần thống kê hiện mang tính tổng quan, chưa có báo cáo chuyên sâu.</a:t>
            </a:r>
            <a:endParaRPr lang="vi-VN" sz="105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Bảng 3-1, Bảng 3-2, mục 3.3.8–3.3.9 và Hình 3-22."/>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Bảng 3-1, Bảng 3-2, mục 3.3.8–3.3.9 và Hình 3-22.</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Use Case quản lý người dùng gồm xem danh sách, thêm, sửa và xóa tài khoản. Luồng xóa có xác nhận. Hệ thống phản hồi khi dữ liệu sai, email trùng hoặc không tìm thấy người dùng. Đây là khu vực quản trị tài khoản, chưa đồng nghĩa có phân quyền nâng cao hoàn chỉnh cho Admin, Manager và User.</a:t>
            </a:r>
            <a:endParaRPr lang="vi-VN" sz="105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mục 4.5.1–4.5.3."/>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mục 4.5.1–4.5.3.</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Kiểm thử gồm chức năng, dữ liệu và giao diện. Với thao tác liên quan tài khoản hoặc nhóm, cần kiểm tra cả quyền truy cập. Với dữ liệu, cần xem xét tính nhất quán khi giao dịch thành công và khi có lỗi. Thao tác trực tiếp trên Android hỗ trợ phát hiện vấn đề về bố cục, nội dung dài và trạng thái tải.</a:t>
            </a:r>
            <a:endParaRPr lang="vi-VN" sz="105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Kết luận: Kết quả đạt được và Những hạn chế của đề tài."/>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Kết luận: Kết quả đạt được và Những hạn chế của đề tài.</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Kết quả là ứng dụng Android quản lý công việc cá nhân và nhóm, kết nối backend MySQL. Hạn chế gồm phụ thuộc mạng, chưa hỗ trợ đầy đủ offline và thời gian thực, chưa tích hợp nhắc việc bằng notification, phân quyền nâng cao và trải nghiệm cần hoàn thiện.</a:t>
            </a:r>
            <a:endParaRPr lang="vi-VN" sz="105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guồn: BC.doc, Kết luận: Hướng phát triển của đề tài."/>
          <p:cNvSpPr txBox="1"/>
          <p:nvPr>
            <p:ph type="body" idx="1"/>
          </p:nvPr>
        </p:nvSpPr>
        <p:spPr>
          <a:xfrm>
            <a:off x="0" y="0"/>
            <a:ext cx="6667500" cy="4286250"/>
          </a:xfrm>
          <a:prstGeom prst="rect">
            <a:avLst/>
          </a:prstGeom>
          <a:noFill/>
          <a:ln>
            <a:noFill/>
          </a:ln>
        </p:spPr>
        <p:txBody>
          <a:bodyPr wrap="none" lIns="0" tIns="0" rIns="0" bIns="0" anchor="t">
            <a:noAutofit/>
          </a:bodyPr>
          <a:lstStyle/>
          <a:p>
            <a:pPr>
              <a:lnSpc>
                <a:spcPts val="1345"/>
              </a:lnSpc>
              <a:buNone/>
            </a:pPr>
            <a:r>
              <a:rPr lang="vi-VN" sz="1050" b="0">
                <a:solidFill>
                  <a:srgbClr val="20213B"/>
                </a:solidFill>
                <a:latin typeface="Arial" panose="020B0604020202020204"/>
                <a:ea typeface="Arial" panose="020B0604020202020204"/>
                <a:cs typeface="Arial" panose="020B0604020202020204"/>
              </a:rPr>
              <a:t>Nguồn: BC.doc, Kết luận: Hướng phát triển của đề tài.</a:t>
            </a:r>
            <a:endParaRPr lang="vi-VN" sz="1050"/>
          </a:p>
          <a:p>
            <a:pPr>
              <a:lnSpc>
                <a:spcPts val="1345"/>
              </a:lnSpc>
              <a:buNone/>
            </a:pPr>
            <a:r>
              <a:rPr lang="vi-VN" sz="1050" b="0">
                <a:solidFill>
                  <a:srgbClr val="20213B"/>
                </a:solidFill>
                <a:latin typeface="Arial" panose="020B0604020202020204"/>
                <a:ea typeface="Arial" panose="020B0604020202020204"/>
                <a:cs typeface="Arial" panose="020B0604020202020204"/>
              </a:rPr>
              <a:t>Các hướng tiếp theo gồm cập nhật dữ liệu theo thời gian thực, xử lý nhiều người dùng đồng thời, tích hợp thông báo nhắc việc, phân quyền chi tiết và nâng cấp UI/UX. Có thể mở rộng thống kê, báo cáo và chia sẻ công việc. Kết thúc phần trình bày và mời giảng viên góp ý.</a:t>
            </a:r>
            <a:endParaRPr lang="vi-VN" sz="105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01"/>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01</a:t>
            </a:r>
            <a:endParaRPr lang="vi-VN" sz="1200"/>
          </a:p>
        </p:txBody>
      </p:sp>
      <p:pic>
        <p:nvPicPr>
          <p:cNvPr id="3" name="Logo Trường Đại học Công nghệ Kỹ thuật Hưng Yên" descr="Logo Trường Đại học Công nghệ Kỹ thuật Hưng Yên"/>
          <p:cNvPicPr>
            <a:picLocks noChangeAspect="1"/>
          </p:cNvPicPr>
          <p:nvPr/>
        </p:nvPicPr>
        <p:blipFill>
          <a:blip r:embed="rId1"/>
          <a:stretch>
            <a:fillRect/>
          </a:stretch>
        </p:blipFill>
        <p:spPr>
          <a:xfrm>
            <a:off x="10403962" y="428625"/>
            <a:ext cx="1118626" cy="1095375"/>
          </a:xfrm>
          <a:prstGeom prst="rect">
            <a:avLst/>
          </a:prstGeom>
        </p:spPr>
      </p:pic>
      <p:sp>
        <p:nvSpPr>
          <p:cNvPr id="4" name="BÀI TẬP LỚN MÔN LẬP TRÌNH MOBILE ĐA NỀN TẢNG"/>
          <p:cNvSpPr txBox="1"/>
          <p:nvPr/>
        </p:nvSpPr>
        <p:spPr>
          <a:xfrm>
            <a:off x="609600" y="514350"/>
            <a:ext cx="9191625" cy="333375"/>
          </a:xfrm>
          <a:prstGeom prst="rect">
            <a:avLst/>
          </a:prstGeom>
          <a:noFill/>
          <a:ln>
            <a:noFill/>
          </a:ln>
        </p:spPr>
        <p:txBody>
          <a:bodyPr wrap="none" lIns="0" tIns="0" rIns="0" bIns="0" anchor="t">
            <a:noAutofit/>
          </a:bodyPr>
          <a:lstStyle/>
          <a:p>
            <a:pPr>
              <a:lnSpc>
                <a:spcPts val="2015"/>
              </a:lnSpc>
              <a:buNone/>
            </a:pPr>
            <a:r>
              <a:rPr lang="vi-VN" sz="1575" b="1">
                <a:solidFill>
                  <a:srgbClr val="554CEC"/>
                </a:solidFill>
                <a:latin typeface="Arial" panose="020B0604020202020204"/>
                <a:ea typeface="Arial" panose="020B0604020202020204"/>
                <a:cs typeface="Arial" panose="020B0604020202020204"/>
              </a:rPr>
              <a:t>BÀI TẬP LỚN MÔN LẬP TRÌNH MOBILE ĐA NỀN TẢNG</a:t>
            </a:r>
            <a:endParaRPr lang="vi-VN" sz="1575"/>
          </a:p>
        </p:txBody>
      </p:sp>
      <p:sp>
        <p:nvSpPr>
          <p:cNvPr id="5" name="PHÁT TRIỂN ỨNG DỤNG"/>
          <p:cNvSpPr txBox="1"/>
          <p:nvPr/>
        </p:nvSpPr>
        <p:spPr>
          <a:xfrm>
            <a:off x="609600" y="1409700"/>
            <a:ext cx="10668000" cy="714375"/>
          </a:xfrm>
          <a:prstGeom prst="rect">
            <a:avLst/>
          </a:prstGeom>
          <a:noFill/>
          <a:ln>
            <a:noFill/>
          </a:ln>
        </p:spPr>
        <p:txBody>
          <a:bodyPr wrap="none" lIns="0" tIns="0" rIns="0" bIns="0" anchor="t">
            <a:noAutofit/>
          </a:bodyPr>
          <a:lstStyle/>
          <a:p>
            <a:pPr>
              <a:lnSpc>
                <a:spcPts val="5570"/>
              </a:lnSpc>
              <a:buNone/>
            </a:pPr>
            <a:r>
              <a:rPr lang="vi-VN" sz="4350" b="1">
                <a:solidFill>
                  <a:srgbClr val="20213B"/>
                </a:solidFill>
                <a:latin typeface="Arial" panose="020B0604020202020204"/>
                <a:ea typeface="Arial" panose="020B0604020202020204"/>
                <a:cs typeface="Arial" panose="020B0604020202020204"/>
              </a:rPr>
              <a:t>PHÁT TRIỂN ỨNG DỤNG</a:t>
            </a:r>
            <a:endParaRPr lang="vi-VN" sz="4350"/>
          </a:p>
        </p:txBody>
      </p:sp>
      <p:sp>
        <p:nvSpPr>
          <p:cNvPr id="6" name="QUẢN LÝ CÔNG VIỆC"/>
          <p:cNvSpPr txBox="1"/>
          <p:nvPr/>
        </p:nvSpPr>
        <p:spPr>
          <a:xfrm>
            <a:off x="609600" y="2152650"/>
            <a:ext cx="10763250" cy="1571625"/>
          </a:xfrm>
          <a:prstGeom prst="rect">
            <a:avLst/>
          </a:prstGeom>
          <a:noFill/>
          <a:ln>
            <a:noFill/>
          </a:ln>
        </p:spPr>
        <p:txBody>
          <a:bodyPr wrap="none" lIns="0" tIns="0" rIns="0" bIns="0" anchor="t">
            <a:noAutofit/>
          </a:bodyPr>
          <a:lstStyle/>
          <a:p>
            <a:pPr>
              <a:lnSpc>
                <a:spcPts val="6145"/>
              </a:lnSpc>
              <a:buNone/>
            </a:pPr>
            <a:r>
              <a:rPr lang="vi-VN" sz="4800" b="1">
                <a:solidFill>
                  <a:srgbClr val="20213B"/>
                </a:solidFill>
                <a:latin typeface="Arial" panose="020B0604020202020204"/>
                <a:ea typeface="Arial" panose="020B0604020202020204"/>
                <a:cs typeface="Arial" panose="020B0604020202020204"/>
              </a:rPr>
              <a:t>QUẢN LÝ CÔNG VIỆC</a:t>
            </a:r>
            <a:endParaRPr lang="vi-VN" sz="4800"/>
          </a:p>
          <a:p>
            <a:pPr>
              <a:lnSpc>
                <a:spcPts val="6145"/>
              </a:lnSpc>
              <a:buNone/>
            </a:pPr>
            <a:r>
              <a:rPr lang="vi-VN" sz="4800" b="1">
                <a:solidFill>
                  <a:srgbClr val="20213B"/>
                </a:solidFill>
                <a:latin typeface="Arial" panose="020B0604020202020204"/>
                <a:ea typeface="Arial" panose="020B0604020202020204"/>
                <a:cs typeface="Arial" panose="020B0604020202020204"/>
              </a:rPr>
              <a:t>CÁ NHÂN</a:t>
            </a:r>
            <a:endParaRPr lang="vi-VN" sz="4800"/>
          </a:p>
        </p:txBody>
      </p:sp>
      <p:sp>
        <p:nvSpPr>
          <p:cNvPr id="7" name="TO-DO LIST"/>
          <p:cNvSpPr txBox="1"/>
          <p:nvPr/>
        </p:nvSpPr>
        <p:spPr>
          <a:xfrm>
            <a:off x="609600" y="3933825"/>
            <a:ext cx="10287000" cy="571500"/>
          </a:xfrm>
          <a:prstGeom prst="rect">
            <a:avLst/>
          </a:prstGeom>
          <a:noFill/>
          <a:ln>
            <a:noFill/>
          </a:ln>
        </p:spPr>
        <p:txBody>
          <a:bodyPr wrap="none" lIns="0" tIns="0" rIns="0" bIns="0" anchor="t">
            <a:noAutofit/>
          </a:bodyPr>
          <a:lstStyle/>
          <a:p>
            <a:pPr>
              <a:lnSpc>
                <a:spcPts val="3840"/>
              </a:lnSpc>
              <a:buNone/>
            </a:pPr>
            <a:r>
              <a:rPr lang="vi-VN" sz="3000" b="1">
                <a:solidFill>
                  <a:srgbClr val="554CEC"/>
                </a:solidFill>
                <a:latin typeface="Arial" panose="020B0604020202020204"/>
                <a:ea typeface="Arial" panose="020B0604020202020204"/>
                <a:cs typeface="Arial" panose="020B0604020202020204"/>
              </a:rPr>
              <a:t>TO-DO LIST</a:t>
            </a:r>
            <a:endParaRPr lang="vi-VN" sz="3000"/>
          </a:p>
        </p:txBody>
      </p:sp>
      <p:sp>
        <p:nvSpPr>
          <p:cNvPr id="8" name="Nguyễn Văn Trường  ·  10123341"/>
          <p:cNvSpPr txBox="1"/>
          <p:nvPr/>
        </p:nvSpPr>
        <p:spPr>
          <a:xfrm>
            <a:off x="609600" y="5000625"/>
            <a:ext cx="5715000" cy="809625"/>
          </a:xfrm>
          <a:prstGeom prst="rect">
            <a:avLst/>
          </a:prstGeom>
          <a:noFill/>
          <a:ln>
            <a:noFill/>
          </a:ln>
        </p:spPr>
        <p:txBody>
          <a:bodyPr wrap="none" lIns="0" tIns="0" rIns="0" bIns="0" anchor="t">
            <a:noAutofit/>
          </a:bodyPr>
          <a:lstStyle/>
          <a:p>
            <a:pPr>
              <a:lnSpc>
                <a:spcPts val="2305"/>
              </a:lnSpc>
              <a:buNone/>
            </a:pPr>
            <a:r>
              <a:rPr lang="vi-VN" sz="1800" b="0">
                <a:solidFill>
                  <a:srgbClr val="20213B"/>
                </a:solidFill>
                <a:latin typeface="Arial" panose="020B0604020202020204"/>
                <a:ea typeface="Arial" panose="020B0604020202020204"/>
                <a:cs typeface="Arial" panose="020B0604020202020204"/>
              </a:rPr>
              <a:t>Nguyễn Văn Trường  ·  10123341</a:t>
            </a:r>
            <a:endParaRPr lang="vi-VN" sz="1800"/>
          </a:p>
          <a:p>
            <a:pPr>
              <a:lnSpc>
                <a:spcPts val="2305"/>
              </a:lnSpc>
              <a:buNone/>
            </a:pPr>
            <a:r>
              <a:rPr lang="vi-VN" sz="1800" b="0">
                <a:solidFill>
                  <a:srgbClr val="20213B"/>
                </a:solidFill>
                <a:latin typeface="Arial" panose="020B0604020202020204"/>
                <a:ea typeface="Arial" panose="020B0604020202020204"/>
                <a:cs typeface="Arial" panose="020B0604020202020204"/>
              </a:rPr>
              <a:t>Trần Bình Dương  ·  10123072</a:t>
            </a:r>
            <a:endParaRPr lang="vi-VN" sz="1800"/>
          </a:p>
        </p:txBody>
      </p:sp>
      <p:sp>
        <p:nvSpPr>
          <p:cNvPr id="9" name="GVHD: ThS. Vũ Xuân Thắng"/>
          <p:cNvSpPr txBox="1"/>
          <p:nvPr/>
        </p:nvSpPr>
        <p:spPr>
          <a:xfrm>
            <a:off x="6905625" y="5000625"/>
            <a:ext cx="4762500" cy="809625"/>
          </a:xfrm>
          <a:prstGeom prst="rect">
            <a:avLst/>
          </a:prstGeom>
          <a:noFill/>
          <a:ln>
            <a:noFill/>
          </a:ln>
        </p:spPr>
        <p:txBody>
          <a:bodyPr wrap="none" lIns="0" tIns="0" rIns="0" bIns="0" anchor="t">
            <a:noAutofit/>
          </a:bodyPr>
          <a:lstStyle/>
          <a:p>
            <a:pPr>
              <a:lnSpc>
                <a:spcPts val="2305"/>
              </a:lnSpc>
              <a:buNone/>
            </a:pPr>
            <a:r>
              <a:rPr lang="vi-VN" sz="1800" b="0">
                <a:solidFill>
                  <a:srgbClr val="20213B"/>
                </a:solidFill>
                <a:latin typeface="Arial" panose="020B0604020202020204"/>
                <a:ea typeface="Arial" panose="020B0604020202020204"/>
                <a:cs typeface="Arial" panose="020B0604020202020204"/>
              </a:rPr>
              <a:t>GVHD: ThS. Vũ Xuân Thắng</a:t>
            </a:r>
            <a:endParaRPr lang="vi-VN" sz="1800"/>
          </a:p>
          <a:p>
            <a:pPr>
              <a:lnSpc>
                <a:spcPts val="2305"/>
              </a:lnSpc>
              <a:buNone/>
            </a:pPr>
            <a:r>
              <a:rPr lang="vi-VN" sz="1800" b="0">
                <a:solidFill>
                  <a:srgbClr val="20213B"/>
                </a:solidFill>
                <a:latin typeface="Arial" panose="020B0604020202020204"/>
                <a:ea typeface="Arial" panose="020B0604020202020204"/>
                <a:cs typeface="Arial" panose="020B0604020202020204"/>
              </a:rPr>
              <a:t>Lớp: 12523W.1</a:t>
            </a:r>
            <a:endParaRPr lang="vi-VN" sz="1800"/>
          </a:p>
        </p:txBody>
      </p:sp>
      <p:sp>
        <p:nvSpPr>
          <p:cNvPr id="10" name="Trường Đại học Công nghệ Kỹ thuật Hưng Yên, 2026"/>
          <p:cNvSpPr txBox="1"/>
          <p:nvPr/>
        </p:nvSpPr>
        <p:spPr>
          <a:xfrm>
            <a:off x="609600" y="6267450"/>
            <a:ext cx="10096500" cy="266700"/>
          </a:xfrm>
          <a:prstGeom prst="rect">
            <a:avLst/>
          </a:prstGeom>
          <a:noFill/>
          <a:ln>
            <a:noFill/>
          </a:ln>
        </p:spPr>
        <p:txBody>
          <a:bodyPr wrap="none" lIns="0" tIns="0" rIns="0" bIns="0" anchor="t">
            <a:noAutofit/>
          </a:bodyPr>
          <a:lstStyle/>
          <a:p>
            <a:pPr>
              <a:lnSpc>
                <a:spcPts val="1730"/>
              </a:lnSpc>
              <a:buNone/>
            </a:pPr>
            <a:r>
              <a:rPr lang="vi-VN" sz="1350" b="0">
                <a:solidFill>
                  <a:srgbClr val="606777"/>
                </a:solidFill>
                <a:latin typeface="Arial" panose="020B0604020202020204"/>
                <a:ea typeface="Arial" panose="020B0604020202020204"/>
                <a:cs typeface="Arial" panose="020B0604020202020204"/>
              </a:rPr>
              <a:t>Trường Đại học Công nghệ Kỹ thuật Hưng Yên, 2026</a:t>
            </a:r>
            <a:endParaRPr lang="vi-VN" sz="13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Lý do chọn đề tài"/>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Lý do chọn đề tài</a:t>
            </a:r>
            <a:endParaRPr lang="vi-VN" sz="3300"/>
          </a:p>
        </p:txBody>
      </p:sp>
      <p:sp>
        <p:nvSpPr>
          <p:cNvPr id="3" name="02"/>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02</a:t>
            </a:r>
            <a:endParaRPr lang="vi-VN" sz="1200"/>
          </a:p>
        </p:txBody>
      </p:sp>
      <p:sp>
        <p:nvSpPr>
          <p:cNvPr id="4" name="Thông tin rời rạc khiến việc theo dõi"/>
          <p:cNvSpPr txBox="1"/>
          <p:nvPr/>
        </p:nvSpPr>
        <p:spPr>
          <a:xfrm>
            <a:off x="609600" y="1428750"/>
            <a:ext cx="10858500" cy="1047750"/>
          </a:xfrm>
          <a:prstGeom prst="rect">
            <a:avLst/>
          </a:prstGeom>
          <a:noFill/>
          <a:ln>
            <a:noFill/>
          </a:ln>
        </p:spPr>
        <p:txBody>
          <a:bodyPr wrap="none" lIns="0" tIns="0" rIns="0" bIns="0" anchor="t">
            <a:noAutofit/>
          </a:bodyPr>
          <a:lstStyle/>
          <a:p>
            <a:pPr>
              <a:lnSpc>
                <a:spcPts val="3840"/>
              </a:lnSpc>
              <a:buNone/>
            </a:pPr>
            <a:r>
              <a:rPr lang="vi-VN" sz="3000" b="1">
                <a:solidFill>
                  <a:srgbClr val="20213B"/>
                </a:solidFill>
                <a:latin typeface="Arial" panose="020B0604020202020204"/>
                <a:ea typeface="Arial" panose="020B0604020202020204"/>
                <a:cs typeface="Arial" panose="020B0604020202020204"/>
              </a:rPr>
              <a:t>Thông tin rời rạc khiến việc theo dõi</a:t>
            </a:r>
            <a:endParaRPr lang="vi-VN" sz="3000"/>
          </a:p>
          <a:p>
            <a:pPr>
              <a:lnSpc>
                <a:spcPts val="3840"/>
              </a:lnSpc>
              <a:buNone/>
            </a:pPr>
            <a:r>
              <a:rPr lang="vi-VN" sz="3000" b="1">
                <a:solidFill>
                  <a:srgbClr val="20213B"/>
                </a:solidFill>
                <a:latin typeface="Arial" panose="020B0604020202020204"/>
                <a:ea typeface="Arial" panose="020B0604020202020204"/>
                <a:cs typeface="Arial" panose="020B0604020202020204"/>
              </a:rPr>
              <a:t>nhiệm vụ và phối hợp nhóm khó hơn</a:t>
            </a:r>
            <a:endParaRPr lang="vi-VN" sz="3000"/>
          </a:p>
        </p:txBody>
      </p:sp>
      <p:sp>
        <p:nvSpPr>
          <p:cNvPr id="5" name="Dễ bỏ sót công việc"/>
          <p:cNvSpPr txBox="1"/>
          <p:nvPr/>
        </p:nvSpPr>
        <p:spPr>
          <a:xfrm>
            <a:off x="609600" y="312420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Dễ bỏ sót công việc</a:t>
            </a:r>
            <a:endParaRPr lang="vi-VN" sz="2100"/>
          </a:p>
        </p:txBody>
      </p:sp>
      <p:sp>
        <p:nvSpPr>
          <p:cNvPr id="6" name="Nhiều nhiệm vụ có thời hạn"/>
          <p:cNvSpPr txBox="1"/>
          <p:nvPr/>
        </p:nvSpPr>
        <p:spPr>
          <a:xfrm>
            <a:off x="609600" y="355282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Nhiều nhiệm vụ có thời hạn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mức ưu tiên khác nhau.</a:t>
            </a:r>
            <a:endParaRPr lang="vi-VN" sz="1875"/>
          </a:p>
        </p:txBody>
      </p:sp>
      <p:sp>
        <p:nvSpPr>
          <p:cNvPr id="7" name="Khó nắm tiến độ"/>
          <p:cNvSpPr txBox="1"/>
          <p:nvPr/>
        </p:nvSpPr>
        <p:spPr>
          <a:xfrm>
            <a:off x="4429125" y="312420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Khó nắm tiến độ</a:t>
            </a:r>
            <a:endParaRPr lang="vi-VN" sz="2100"/>
          </a:p>
        </p:txBody>
      </p:sp>
      <p:sp>
        <p:nvSpPr>
          <p:cNvPr id="8" name="Thiếu một nơi tổng hợp"/>
          <p:cNvSpPr txBox="1"/>
          <p:nvPr/>
        </p:nvSpPr>
        <p:spPr>
          <a:xfrm>
            <a:off x="4429125" y="355282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Thiếu một nơi tổng hợp</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trạng thái thực hiện.</a:t>
            </a:r>
            <a:endParaRPr lang="vi-VN" sz="1875"/>
          </a:p>
        </p:txBody>
      </p:sp>
      <p:sp>
        <p:nvSpPr>
          <p:cNvPr id="9" name="Phân công chưa rõ"/>
          <p:cNvSpPr txBox="1"/>
          <p:nvPr/>
        </p:nvSpPr>
        <p:spPr>
          <a:xfrm>
            <a:off x="8248650" y="312420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Phân công chưa rõ</a:t>
            </a:r>
            <a:endParaRPr lang="vi-VN" sz="2100"/>
          </a:p>
        </p:txBody>
      </p:sp>
      <p:sp>
        <p:nvSpPr>
          <p:cNvPr id="10" name="Thành viên cần biết nhiệm vụ"/>
          <p:cNvSpPr txBox="1"/>
          <p:nvPr/>
        </p:nvSpPr>
        <p:spPr>
          <a:xfrm>
            <a:off x="8248650" y="355282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Thành viên cần biết nhiệm vụ</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trách nhiệm của mình.</a:t>
            </a:r>
            <a:endParaRPr lang="vi-VN" sz="1875"/>
          </a:p>
        </p:txBody>
      </p:sp>
      <p:sp>
        <p:nvSpPr>
          <p:cNvPr id="11" name="Giải pháp: quản lý công việc cá nhân và nhóm trong cùng một ứng dụng mobile."/>
          <p:cNvSpPr txBox="1"/>
          <p:nvPr/>
        </p:nvSpPr>
        <p:spPr>
          <a:xfrm>
            <a:off x="609600" y="5343525"/>
            <a:ext cx="10572750" cy="762000"/>
          </a:xfrm>
          <a:prstGeom prst="rect">
            <a:avLst/>
          </a:prstGeom>
          <a:noFill/>
          <a:ln>
            <a:noFill/>
          </a:ln>
        </p:spPr>
        <p:txBody>
          <a:bodyPr wrap="none" lIns="0" tIns="0" rIns="0" bIns="0" anchor="t">
            <a:noAutofit/>
          </a:bodyPr>
          <a:lstStyle/>
          <a:p>
            <a:pPr>
              <a:lnSpc>
                <a:spcPts val="2690"/>
              </a:lnSpc>
              <a:buNone/>
            </a:pPr>
            <a:r>
              <a:rPr lang="vi-VN" sz="2100" b="0">
                <a:solidFill>
                  <a:srgbClr val="554CEC"/>
                </a:solidFill>
                <a:latin typeface="Arial" panose="020B0604020202020204"/>
                <a:ea typeface="Arial" panose="020B0604020202020204"/>
                <a:cs typeface="Arial" panose="020B0604020202020204"/>
              </a:rPr>
              <a:t>Giải pháp: quản lý công việc cá nhân và nhóm trong cùng một ứng dụng mobile.</a:t>
            </a:r>
            <a:endParaRPr lang="vi-VN" sz="2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Mục tiêu và phạm vi"/>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Mục tiêu và phạm vi</a:t>
            </a:r>
            <a:endParaRPr lang="vi-VN" sz="3300"/>
          </a:p>
        </p:txBody>
      </p:sp>
      <p:sp>
        <p:nvSpPr>
          <p:cNvPr id="3" name="03"/>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03</a:t>
            </a:r>
            <a:endParaRPr lang="vi-VN" sz="1200"/>
          </a:p>
        </p:txBody>
      </p:sp>
      <p:sp>
        <p:nvSpPr>
          <p:cNvPr id="4" name="Mục tiêu"/>
          <p:cNvSpPr txBox="1"/>
          <p:nvPr/>
        </p:nvSpPr>
        <p:spPr>
          <a:xfrm>
            <a:off x="609600" y="1524000"/>
            <a:ext cx="54292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Mục tiêu</a:t>
            </a:r>
            <a:endParaRPr lang="vi-VN" sz="2100"/>
          </a:p>
        </p:txBody>
      </p:sp>
      <p:sp>
        <p:nvSpPr>
          <p:cNvPr id="5" name="Tổ chức nhiệm vụ, phân công công việc"/>
          <p:cNvSpPr txBox="1"/>
          <p:nvPr/>
        </p:nvSpPr>
        <p:spPr>
          <a:xfrm>
            <a:off x="609600" y="1952625"/>
            <a:ext cx="54292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Tổ chức nhiệm vụ, phân công công việc</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theo dõi tiến độ trên điện thoại.</a:t>
            </a:r>
            <a:endParaRPr lang="vi-VN" sz="1875"/>
          </a:p>
        </p:txBody>
      </p:sp>
      <p:sp>
        <p:nvSpPr>
          <p:cNvPr id="6" name="Đối tượng"/>
          <p:cNvSpPr txBox="1"/>
          <p:nvPr/>
        </p:nvSpPr>
        <p:spPr>
          <a:xfrm>
            <a:off x="6667500" y="1524000"/>
            <a:ext cx="49053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Đối tượng</a:t>
            </a:r>
            <a:endParaRPr lang="vi-VN" sz="2100"/>
          </a:p>
        </p:txBody>
      </p:sp>
      <p:sp>
        <p:nvSpPr>
          <p:cNvPr id="7" name="Người dùng cá nhân và các nhóm nhỏ"/>
          <p:cNvSpPr txBox="1"/>
          <p:nvPr/>
        </p:nvSpPr>
        <p:spPr>
          <a:xfrm>
            <a:off x="6667500" y="1952625"/>
            <a:ext cx="49053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Người dùng cá nhân và các nhóm nhỏ</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trong học tập, công việc.</a:t>
            </a:r>
            <a:endParaRPr lang="vi-VN" sz="1875"/>
          </a:p>
        </p:txBody>
      </p:sp>
      <p:sp>
        <p:nvSpPr>
          <p:cNvPr id="8" name="Yêu cầu kỹ thuật"/>
          <p:cNvSpPr txBox="1"/>
          <p:nvPr/>
        </p:nvSpPr>
        <p:spPr>
          <a:xfrm>
            <a:off x="609600" y="3667125"/>
            <a:ext cx="54292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Yêu cầu kỹ thuật</a:t>
            </a:r>
            <a:endParaRPr lang="vi-VN" sz="2100"/>
          </a:p>
        </p:txBody>
      </p:sp>
      <p:sp>
        <p:nvSpPr>
          <p:cNvPr id="9" name="Kết nối giao diện với API và dữ liệu."/>
          <p:cNvSpPr txBox="1"/>
          <p:nvPr/>
        </p:nvSpPr>
        <p:spPr>
          <a:xfrm>
            <a:off x="609600" y="4095750"/>
            <a:ext cx="54292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Kết nối giao diện với API và dữ liệu.</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Kiểm tra đầu vào và quyền thao tác.</a:t>
            </a:r>
            <a:endParaRPr lang="vi-VN" sz="1875"/>
          </a:p>
        </p:txBody>
      </p:sp>
      <p:sp>
        <p:nvSpPr>
          <p:cNvPr id="10" name="Phạm vi triển khai"/>
          <p:cNvSpPr txBox="1"/>
          <p:nvPr/>
        </p:nvSpPr>
        <p:spPr>
          <a:xfrm>
            <a:off x="6667500" y="3667125"/>
            <a:ext cx="49053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Phạm vi triển khai</a:t>
            </a:r>
            <a:endParaRPr lang="vi-VN" sz="2100"/>
          </a:p>
        </p:txBody>
      </p:sp>
      <p:sp>
        <p:nvSpPr>
          <p:cNvPr id="11" name="Kiểm tra trực tiếp trên Android."/>
          <p:cNvSpPr txBox="1"/>
          <p:nvPr/>
        </p:nvSpPr>
        <p:spPr>
          <a:xfrm>
            <a:off x="6667500" y="4095750"/>
            <a:ext cx="49053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Kiểm tra trực tiếp trên Android.</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Dữ liệu nghiệp vụ cần kết nối backend.</a:t>
            </a:r>
            <a:endParaRPr lang="vi-VN" sz="18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Công nghệ và kiến trúc hệ thống"/>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Công nghệ và kiến trúc hệ thống</a:t>
            </a:r>
            <a:endParaRPr lang="vi-VN" sz="3300"/>
          </a:p>
        </p:txBody>
      </p:sp>
      <p:sp>
        <p:nvSpPr>
          <p:cNvPr id="3" name="04"/>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04</a:t>
            </a:r>
            <a:endParaRPr lang="vi-VN" sz="1200"/>
          </a:p>
        </p:txBody>
      </p:sp>
      <p:sp>
        <p:nvSpPr>
          <p:cNvPr id="4" name="Ứng dụng mobile"/>
          <p:cNvSpPr txBox="1"/>
          <p:nvPr/>
        </p:nvSpPr>
        <p:spPr>
          <a:xfrm>
            <a:off x="609600" y="1676400"/>
            <a:ext cx="342900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Ứng dụng mobile</a:t>
            </a:r>
            <a:endParaRPr lang="vi-VN" sz="2100"/>
          </a:p>
        </p:txBody>
      </p:sp>
      <p:sp>
        <p:nvSpPr>
          <p:cNvPr id="5" name="React Native + Expo"/>
          <p:cNvSpPr txBox="1"/>
          <p:nvPr/>
        </p:nvSpPr>
        <p:spPr>
          <a:xfrm>
            <a:off x="609600" y="2105025"/>
            <a:ext cx="342900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React Native + Expo</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Giao diện và tương tác</a:t>
            </a:r>
            <a:endParaRPr lang="vi-VN" sz="1875"/>
          </a:p>
        </p:txBody>
      </p:sp>
      <p:sp>
        <p:nvSpPr>
          <p:cNvPr id="6" name="Dịch vụ API"/>
          <p:cNvSpPr txBox="1"/>
          <p:nvPr/>
        </p:nvSpPr>
        <p:spPr>
          <a:xfrm>
            <a:off x="4400550" y="1676400"/>
            <a:ext cx="35242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Dịch vụ API</a:t>
            </a:r>
            <a:endParaRPr lang="vi-VN" sz="2100"/>
          </a:p>
        </p:txBody>
      </p:sp>
      <p:sp>
        <p:nvSpPr>
          <p:cNvPr id="7" name="Node.js + Express"/>
          <p:cNvSpPr txBox="1"/>
          <p:nvPr/>
        </p:nvSpPr>
        <p:spPr>
          <a:xfrm>
            <a:off x="4400550" y="2105025"/>
            <a:ext cx="35242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Node.js + Express</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Xác thực và xử lý nghiệp vụ</a:t>
            </a:r>
            <a:endParaRPr lang="vi-VN" sz="1875"/>
          </a:p>
        </p:txBody>
      </p:sp>
      <p:sp>
        <p:nvSpPr>
          <p:cNvPr id="8" name="Dữ liệu tập trung"/>
          <p:cNvSpPr txBox="1"/>
          <p:nvPr/>
        </p:nvSpPr>
        <p:spPr>
          <a:xfrm>
            <a:off x="8191500" y="1676400"/>
            <a:ext cx="33813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Dữ liệu tập trung</a:t>
            </a:r>
            <a:endParaRPr lang="vi-VN" sz="2100"/>
          </a:p>
        </p:txBody>
      </p:sp>
      <p:sp>
        <p:nvSpPr>
          <p:cNvPr id="9" name="Sequelize + MySQL"/>
          <p:cNvSpPr txBox="1"/>
          <p:nvPr/>
        </p:nvSpPr>
        <p:spPr>
          <a:xfrm>
            <a:off x="8191500" y="2105025"/>
            <a:ext cx="33813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Sequelize + MySQL</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Truy xuất và lưu trữ dữ liệu</a:t>
            </a:r>
            <a:endParaRPr lang="vi-VN" sz="1875"/>
          </a:p>
        </p:txBody>
      </p:sp>
      <p:sp>
        <p:nvSpPr>
          <p:cNvPr id="10" name="JavaScript"/>
          <p:cNvSpPr txBox="1"/>
          <p:nvPr/>
        </p:nvSpPr>
        <p:spPr>
          <a:xfrm>
            <a:off x="609600" y="3905250"/>
            <a:ext cx="5048250" cy="495300"/>
          </a:xfrm>
          <a:prstGeom prst="rect">
            <a:avLst/>
          </a:prstGeom>
          <a:noFill/>
          <a:ln>
            <a:noFill/>
          </a:ln>
        </p:spPr>
        <p:txBody>
          <a:bodyPr wrap="none" lIns="0" tIns="0" rIns="0" bIns="0" anchor="t">
            <a:noAutofit/>
          </a:bodyPr>
          <a:lstStyle/>
          <a:p>
            <a:pPr>
              <a:lnSpc>
                <a:spcPts val="3455"/>
              </a:lnSpc>
              <a:buNone/>
            </a:pPr>
            <a:r>
              <a:rPr lang="vi-VN" sz="2700" b="1">
                <a:solidFill>
                  <a:srgbClr val="554CEC"/>
                </a:solidFill>
                <a:latin typeface="Arial" panose="020B0604020202020204"/>
                <a:ea typeface="Arial" panose="020B0604020202020204"/>
                <a:cs typeface="Arial" panose="020B0604020202020204"/>
              </a:rPr>
              <a:t>JavaScript</a:t>
            </a:r>
            <a:endParaRPr lang="vi-VN" sz="2700"/>
          </a:p>
        </p:txBody>
      </p:sp>
      <p:sp>
        <p:nvSpPr>
          <p:cNvPr id="11" name="Ngôn ngữ chính ở mobile và backend."/>
          <p:cNvSpPr txBox="1"/>
          <p:nvPr/>
        </p:nvSpPr>
        <p:spPr>
          <a:xfrm>
            <a:off x="609600" y="4543425"/>
            <a:ext cx="5048250" cy="904875"/>
          </a:xfrm>
          <a:prstGeom prst="rect">
            <a:avLst/>
          </a:prstGeom>
          <a:noFill/>
          <a:ln>
            <a:noFill/>
          </a:ln>
        </p:spPr>
        <p:txBody>
          <a:bodyPr wrap="none" lIns="0" tIns="0" rIns="0" bIns="0" anchor="t">
            <a:noAutofit/>
          </a:bodyPr>
          <a:lstStyle/>
          <a:p>
            <a:pPr>
              <a:lnSpc>
                <a:spcPts val="2590"/>
              </a:lnSpc>
              <a:buNone/>
            </a:pPr>
            <a:r>
              <a:rPr lang="vi-VN" sz="2025" b="0">
                <a:solidFill>
                  <a:srgbClr val="20213B"/>
                </a:solidFill>
                <a:latin typeface="Arial" panose="020B0604020202020204"/>
                <a:ea typeface="Arial" panose="020B0604020202020204"/>
                <a:cs typeface="Arial" panose="020B0604020202020204"/>
              </a:rPr>
              <a:t>Ngôn ngữ chính ở mobile và backend.</a:t>
            </a:r>
            <a:endParaRPr lang="vi-VN" sz="2025"/>
          </a:p>
        </p:txBody>
      </p:sp>
      <p:sp>
        <p:nvSpPr>
          <p:cNvPr id="12" name="AsyncStorage"/>
          <p:cNvSpPr txBox="1"/>
          <p:nvPr/>
        </p:nvSpPr>
        <p:spPr>
          <a:xfrm>
            <a:off x="6667500" y="3905250"/>
            <a:ext cx="4905375" cy="495300"/>
          </a:xfrm>
          <a:prstGeom prst="rect">
            <a:avLst/>
          </a:prstGeom>
          <a:noFill/>
          <a:ln>
            <a:noFill/>
          </a:ln>
        </p:spPr>
        <p:txBody>
          <a:bodyPr wrap="none" lIns="0" tIns="0" rIns="0" bIns="0" anchor="t">
            <a:noAutofit/>
          </a:bodyPr>
          <a:lstStyle/>
          <a:p>
            <a:pPr>
              <a:lnSpc>
                <a:spcPts val="3455"/>
              </a:lnSpc>
              <a:buNone/>
            </a:pPr>
            <a:r>
              <a:rPr lang="vi-VN" sz="2700" b="1">
                <a:solidFill>
                  <a:srgbClr val="554CEC"/>
                </a:solidFill>
                <a:latin typeface="Arial" panose="020B0604020202020204"/>
                <a:ea typeface="Arial" panose="020B0604020202020204"/>
                <a:cs typeface="Arial" panose="020B0604020202020204"/>
              </a:rPr>
              <a:t>AsyncStorage</a:t>
            </a:r>
            <a:endParaRPr lang="vi-VN" sz="2700"/>
          </a:p>
        </p:txBody>
      </p:sp>
      <p:sp>
        <p:nvSpPr>
          <p:cNvPr id="13" name="Lưu thông tin phiên và thiết lập cục bộ."/>
          <p:cNvSpPr txBox="1"/>
          <p:nvPr/>
        </p:nvSpPr>
        <p:spPr>
          <a:xfrm>
            <a:off x="6667500" y="4543425"/>
            <a:ext cx="4905375" cy="904875"/>
          </a:xfrm>
          <a:prstGeom prst="rect">
            <a:avLst/>
          </a:prstGeom>
          <a:noFill/>
          <a:ln>
            <a:noFill/>
          </a:ln>
        </p:spPr>
        <p:txBody>
          <a:bodyPr wrap="none" lIns="0" tIns="0" rIns="0" bIns="0" anchor="t">
            <a:noAutofit/>
          </a:bodyPr>
          <a:lstStyle/>
          <a:p>
            <a:pPr>
              <a:lnSpc>
                <a:spcPts val="2590"/>
              </a:lnSpc>
              <a:buNone/>
            </a:pPr>
            <a:r>
              <a:rPr lang="vi-VN" sz="2025" b="0">
                <a:solidFill>
                  <a:srgbClr val="20213B"/>
                </a:solidFill>
                <a:latin typeface="Arial" panose="020B0604020202020204"/>
                <a:ea typeface="Arial" panose="020B0604020202020204"/>
                <a:cs typeface="Arial" panose="020B0604020202020204"/>
              </a:rPr>
              <a:t>Lưu thông tin phiên và thiết lập cục bộ.</a:t>
            </a:r>
            <a:endParaRPr lang="vi-VN" sz="2025"/>
          </a:p>
        </p:txBody>
      </p:sp>
      <p:sp>
        <p:nvSpPr>
          <p:cNvPr id="14" name="Mobile trao đổi dữ liệu với backend qua API theo mô hình client–server."/>
          <p:cNvSpPr txBox="1"/>
          <p:nvPr/>
        </p:nvSpPr>
        <p:spPr>
          <a:xfrm>
            <a:off x="609600" y="5781675"/>
            <a:ext cx="10953750" cy="428625"/>
          </a:xfrm>
          <a:prstGeom prst="rect">
            <a:avLst/>
          </a:prstGeom>
          <a:noFill/>
          <a:ln>
            <a:noFill/>
          </a:ln>
        </p:spPr>
        <p:txBody>
          <a:bodyPr wrap="none" lIns="0" tIns="0" rIns="0" bIns="0" anchor="t">
            <a:noAutofit/>
          </a:bodyPr>
          <a:lstStyle/>
          <a:p>
            <a:pPr>
              <a:lnSpc>
                <a:spcPts val="2305"/>
              </a:lnSpc>
              <a:buNone/>
            </a:pPr>
            <a:r>
              <a:rPr lang="vi-VN" sz="1800" b="0">
                <a:solidFill>
                  <a:srgbClr val="606777"/>
                </a:solidFill>
                <a:latin typeface="Arial" panose="020B0604020202020204"/>
                <a:ea typeface="Arial" panose="020B0604020202020204"/>
                <a:cs typeface="Arial" panose="020B0604020202020204"/>
              </a:rPr>
              <a:t>Mobile trao đổi dữ liệu với backend qua API theo mô hình client–server.</a:t>
            </a:r>
            <a:endParaRPr lang="vi-VN"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Tác nhân và nhóm chức năng"/>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Tác nhân và nhóm chức năng</a:t>
            </a:r>
            <a:endParaRPr lang="vi-VN" sz="3300"/>
          </a:p>
        </p:txBody>
      </p:sp>
      <p:sp>
        <p:nvSpPr>
          <p:cNvPr id="3" name="05"/>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05</a:t>
            </a:r>
            <a:endParaRPr lang="vi-VN" sz="1200"/>
          </a:p>
        </p:txBody>
      </p:sp>
      <p:pic>
        <p:nvPicPr>
          <p:cNvPr id="4" name="Biểu đồ Use Case tổng quát trong báo cáo" descr="Biểu đồ Use Case tổng quát trong báo cáo"/>
          <p:cNvPicPr>
            <a:picLocks noChangeAspect="1"/>
          </p:cNvPicPr>
          <p:nvPr/>
        </p:nvPicPr>
        <p:blipFill>
          <a:blip r:embed="rId1"/>
          <a:stretch>
            <a:fillRect/>
          </a:stretch>
        </p:blipFill>
        <p:spPr>
          <a:xfrm>
            <a:off x="609600" y="1662439"/>
            <a:ext cx="7096125" cy="4104621"/>
          </a:xfrm>
          <a:prstGeom prst="rect">
            <a:avLst/>
          </a:prstGeom>
        </p:spPr>
      </p:pic>
      <p:sp>
        <p:nvSpPr>
          <p:cNvPr id="5" name="Người dùng"/>
          <p:cNvSpPr txBox="1"/>
          <p:nvPr/>
        </p:nvSpPr>
        <p:spPr>
          <a:xfrm>
            <a:off x="8115300" y="1524000"/>
            <a:ext cx="34575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Người dùng</a:t>
            </a:r>
            <a:endParaRPr lang="vi-VN" sz="2100"/>
          </a:p>
        </p:txBody>
      </p:sp>
      <p:sp>
        <p:nvSpPr>
          <p:cNvPr id="6" name="Tài khoản, công việc cá nhân,"/>
          <p:cNvSpPr txBox="1"/>
          <p:nvPr/>
        </p:nvSpPr>
        <p:spPr>
          <a:xfrm>
            <a:off x="8115300" y="1952625"/>
            <a:ext cx="34575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Tài khoản, công việc cá nhân,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nhóm và theo dõi tiến độ.</a:t>
            </a:r>
            <a:endParaRPr lang="vi-VN" sz="1875"/>
          </a:p>
        </p:txBody>
      </p:sp>
      <p:sp>
        <p:nvSpPr>
          <p:cNvPr id="7" name="Trưởng nhóm"/>
          <p:cNvSpPr txBox="1"/>
          <p:nvPr/>
        </p:nvSpPr>
        <p:spPr>
          <a:xfrm>
            <a:off x="8115300" y="3190875"/>
            <a:ext cx="34575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Trưởng nhóm</a:t>
            </a:r>
            <a:endParaRPr lang="vi-VN" sz="2100"/>
          </a:p>
        </p:txBody>
      </p:sp>
      <p:sp>
        <p:nvSpPr>
          <p:cNvPr id="8" name="Quản lý thành viên và"/>
          <p:cNvSpPr txBox="1"/>
          <p:nvPr/>
        </p:nvSpPr>
        <p:spPr>
          <a:xfrm>
            <a:off x="8115300" y="3619500"/>
            <a:ext cx="34575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Quản lý thành viên và</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phân công nhiệm vụ.</a:t>
            </a:r>
            <a:endParaRPr lang="vi-VN" sz="1875"/>
          </a:p>
        </p:txBody>
      </p:sp>
      <p:sp>
        <p:nvSpPr>
          <p:cNvPr id="9" name="Quản trị viên"/>
          <p:cNvSpPr txBox="1"/>
          <p:nvPr/>
        </p:nvSpPr>
        <p:spPr>
          <a:xfrm>
            <a:off x="8115300" y="4857750"/>
            <a:ext cx="34575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Quản trị viên</a:t>
            </a:r>
            <a:endParaRPr lang="vi-VN" sz="2100"/>
          </a:p>
        </p:txBody>
      </p:sp>
      <p:sp>
        <p:nvSpPr>
          <p:cNvPr id="10" name="Quản lý tài khoản người dùng"/>
          <p:cNvSpPr txBox="1"/>
          <p:nvPr/>
        </p:nvSpPr>
        <p:spPr>
          <a:xfrm>
            <a:off x="8115300" y="5286375"/>
            <a:ext cx="34575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Quản lý tài khoản người dùng</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trong khu vực quản trị.</a:t>
            </a:r>
            <a:endParaRPr lang="vi-VN" sz="18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Thiết kế cơ sở dữ liệu"/>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Thiết kế cơ sở dữ liệu</a:t>
            </a:r>
            <a:endParaRPr lang="vi-VN" sz="3300"/>
          </a:p>
        </p:txBody>
      </p:sp>
      <p:sp>
        <p:nvSpPr>
          <p:cNvPr id="3" name="06"/>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06</a:t>
            </a:r>
            <a:endParaRPr lang="vi-VN" sz="1200"/>
          </a:p>
        </p:txBody>
      </p:sp>
      <p:pic>
        <p:nvPicPr>
          <p:cNvPr id="4" name="Mô hình cơ sở dữ liệu quan hệ trích từ báo cáo" descr="Mô hình cơ sở dữ liệu quan hệ trích từ báo cáo"/>
          <p:cNvPicPr>
            <a:picLocks noChangeAspect="1"/>
          </p:cNvPicPr>
          <p:nvPr/>
        </p:nvPicPr>
        <p:blipFill>
          <a:blip r:embed="rId1"/>
          <a:stretch>
            <a:fillRect/>
          </a:stretch>
        </p:blipFill>
        <p:spPr>
          <a:xfrm>
            <a:off x="6767658" y="1238250"/>
            <a:ext cx="4228810" cy="4914900"/>
          </a:xfrm>
          <a:prstGeom prst="rect">
            <a:avLst/>
          </a:prstGeom>
        </p:spPr>
      </p:pic>
      <p:sp>
        <p:nvSpPr>
          <p:cNvPr id="5" name="Nghiệp vụ cá nhân"/>
          <p:cNvSpPr txBox="1"/>
          <p:nvPr/>
        </p:nvSpPr>
        <p:spPr>
          <a:xfrm>
            <a:off x="609600" y="1581150"/>
            <a:ext cx="5238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Nghiệp vụ cá nhân</a:t>
            </a:r>
            <a:endParaRPr lang="vi-VN" sz="2100"/>
          </a:p>
        </p:txBody>
      </p:sp>
      <p:sp>
        <p:nvSpPr>
          <p:cNvPr id="6" name="Người dùng, danh mục và công việc"/>
          <p:cNvSpPr txBox="1"/>
          <p:nvPr/>
        </p:nvSpPr>
        <p:spPr>
          <a:xfrm>
            <a:off x="609600" y="2009775"/>
            <a:ext cx="5238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Người dùng, danh mục và công việc</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liên kết bằng khóa chính, khóa ngoại.</a:t>
            </a:r>
            <a:endParaRPr lang="vi-VN" sz="1875"/>
          </a:p>
        </p:txBody>
      </p:sp>
      <p:sp>
        <p:nvSpPr>
          <p:cNvPr id="7" name="Nghiệp vụ nhóm"/>
          <p:cNvSpPr txBox="1"/>
          <p:nvPr/>
        </p:nvSpPr>
        <p:spPr>
          <a:xfrm>
            <a:off x="609600" y="3238500"/>
            <a:ext cx="5238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Nghiệp vụ nhóm</a:t>
            </a:r>
            <a:endParaRPr lang="vi-VN" sz="2100"/>
          </a:p>
        </p:txBody>
      </p:sp>
      <p:sp>
        <p:nvSpPr>
          <p:cNvPr id="8" name="Nhóm, thành viên và công việc nhóm"/>
          <p:cNvSpPr txBox="1"/>
          <p:nvPr/>
        </p:nvSpPr>
        <p:spPr>
          <a:xfrm>
            <a:off x="609600" y="3667125"/>
            <a:ext cx="5238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Nhóm, thành viên và công việc nhóm</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thể hiện người tham gia, người phụ trách.</a:t>
            </a:r>
            <a:endParaRPr lang="vi-VN" sz="1875"/>
          </a:p>
        </p:txBody>
      </p:sp>
      <p:sp>
        <p:nvSpPr>
          <p:cNvPr id="9" name="Tính nhất quán"/>
          <p:cNvSpPr txBox="1"/>
          <p:nvPr/>
        </p:nvSpPr>
        <p:spPr>
          <a:xfrm>
            <a:off x="609600" y="4895850"/>
            <a:ext cx="5238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Tính nhất quán</a:t>
            </a:r>
            <a:endParaRPr lang="vi-VN" sz="2100"/>
          </a:p>
        </p:txBody>
      </p:sp>
      <p:sp>
        <p:nvSpPr>
          <p:cNvPr id="10" name="Sequelize quản lý truy xuất."/>
          <p:cNvSpPr txBox="1"/>
          <p:nvPr/>
        </p:nvSpPr>
        <p:spPr>
          <a:xfrm>
            <a:off x="609600" y="5324475"/>
            <a:ext cx="5238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Sequelize quản lý truy xuất.</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Migration cập nhật cấu trúc dữ liệu.</a:t>
            </a:r>
            <a:endParaRPr lang="vi-VN" sz="18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Luồng xử lý thêm công việc"/>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Luồng xử lý thêm công việc</a:t>
            </a:r>
            <a:endParaRPr lang="vi-VN" sz="3300"/>
          </a:p>
        </p:txBody>
      </p:sp>
      <p:sp>
        <p:nvSpPr>
          <p:cNvPr id="3" name="07"/>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07</a:t>
            </a:r>
            <a:endParaRPr lang="vi-VN" sz="1200"/>
          </a:p>
        </p:txBody>
      </p:sp>
      <p:pic>
        <p:nvPicPr>
          <p:cNvPr id="4" name="Biểu đồ tuần tự chức năng thêm công việc" descr="Biểu đồ tuần tự chức năng thêm công việc"/>
          <p:cNvPicPr>
            <a:picLocks noChangeAspect="1"/>
          </p:cNvPicPr>
          <p:nvPr/>
        </p:nvPicPr>
        <p:blipFill>
          <a:blip r:embed="rId1"/>
          <a:stretch>
            <a:fillRect/>
          </a:stretch>
        </p:blipFill>
        <p:spPr>
          <a:xfrm>
            <a:off x="1359263" y="1276350"/>
            <a:ext cx="9473474" cy="4057650"/>
          </a:xfrm>
          <a:prstGeom prst="rect">
            <a:avLst/>
          </a:prstGeom>
        </p:spPr>
      </p:pic>
      <p:sp>
        <p:nvSpPr>
          <p:cNvPr id="5" name="Nhập thông tin"/>
          <p:cNvSpPr txBox="1"/>
          <p:nvPr/>
        </p:nvSpPr>
        <p:spPr>
          <a:xfrm>
            <a:off x="609600" y="5467350"/>
            <a:ext cx="3333750" cy="38100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Nhập thông tin</a:t>
            </a:r>
            <a:endParaRPr lang="vi-VN" sz="2100"/>
          </a:p>
        </p:txBody>
      </p:sp>
      <p:sp>
        <p:nvSpPr>
          <p:cNvPr id="6" name="Kiểm tra và lưu dữ liệu"/>
          <p:cNvSpPr txBox="1"/>
          <p:nvPr/>
        </p:nvSpPr>
        <p:spPr>
          <a:xfrm>
            <a:off x="4333875" y="5467350"/>
            <a:ext cx="3857625" cy="38100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Kiểm tra và lưu dữ liệu</a:t>
            </a:r>
            <a:endParaRPr lang="vi-VN" sz="2100"/>
          </a:p>
        </p:txBody>
      </p:sp>
      <p:sp>
        <p:nvSpPr>
          <p:cNvPr id="7" name="Phản hồi kết quả"/>
          <p:cNvSpPr txBox="1"/>
          <p:nvPr/>
        </p:nvSpPr>
        <p:spPr>
          <a:xfrm>
            <a:off x="8667750" y="5467350"/>
            <a:ext cx="2905125" cy="38100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Phản hồi kết quả</a:t>
            </a:r>
            <a:endParaRPr lang="vi-VN" sz="2100"/>
          </a:p>
        </p:txBody>
      </p:sp>
      <p:sp>
        <p:nvSpPr>
          <p:cNvPr id="8" name="Thiếu dữ liệu hoặc lỗi lưu trữ: hiển thị thông báo để người dùng xử lý."/>
          <p:cNvSpPr txBox="1"/>
          <p:nvPr/>
        </p:nvSpPr>
        <p:spPr>
          <a:xfrm>
            <a:off x="609600" y="6000750"/>
            <a:ext cx="10620375" cy="333375"/>
          </a:xfrm>
          <a:prstGeom prst="rect">
            <a:avLst/>
          </a:prstGeom>
          <a:noFill/>
          <a:ln>
            <a:noFill/>
          </a:ln>
        </p:spPr>
        <p:txBody>
          <a:bodyPr wrap="none" lIns="0" tIns="0" rIns="0" bIns="0" anchor="t">
            <a:noAutofit/>
          </a:bodyPr>
          <a:lstStyle/>
          <a:p>
            <a:pPr>
              <a:lnSpc>
                <a:spcPts val="2210"/>
              </a:lnSpc>
              <a:buNone/>
            </a:pPr>
            <a:r>
              <a:rPr lang="vi-VN" sz="1725" b="0">
                <a:solidFill>
                  <a:srgbClr val="606777"/>
                </a:solidFill>
                <a:latin typeface="Arial" panose="020B0604020202020204"/>
                <a:ea typeface="Arial" panose="020B0604020202020204"/>
                <a:cs typeface="Arial" panose="020B0604020202020204"/>
              </a:rPr>
              <a:t>Thiếu dữ liệu hoặc lỗi lưu trữ: hiển thị thông báo để người dùng xử lý.</a:t>
            </a:r>
            <a:endParaRPr lang="vi-VN" sz="172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Đăng ký, đăng nhập và hồ sơ"/>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Đăng ký, đăng nhập và hồ sơ</a:t>
            </a:r>
            <a:endParaRPr lang="vi-VN" sz="3300"/>
          </a:p>
        </p:txBody>
      </p:sp>
      <p:sp>
        <p:nvSpPr>
          <p:cNvPr id="3" name="08"/>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08</a:t>
            </a:r>
            <a:endParaRPr lang="vi-VN" sz="1200"/>
          </a:p>
        </p:txBody>
      </p:sp>
      <p:sp>
        <p:nvSpPr>
          <p:cNvPr id="4" name="Quản lý tài khoản"/>
          <p:cNvSpPr txBox="1"/>
          <p:nvPr/>
        </p:nvSpPr>
        <p:spPr>
          <a:xfrm>
            <a:off x="609600" y="1619250"/>
            <a:ext cx="361950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Quản lý tài khoản</a:t>
            </a:r>
            <a:endParaRPr lang="vi-VN" sz="2100"/>
          </a:p>
        </p:txBody>
      </p:sp>
      <p:sp>
        <p:nvSpPr>
          <p:cNvPr id="5" name="Đăng ký, đăng nhập"/>
          <p:cNvSpPr txBox="1"/>
          <p:nvPr/>
        </p:nvSpPr>
        <p:spPr>
          <a:xfrm>
            <a:off x="609600" y="2047875"/>
            <a:ext cx="361950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Đăng ký, đăng nhập</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thiết lập phiên làm việc.</a:t>
            </a:r>
            <a:endParaRPr lang="vi-VN" sz="1875"/>
          </a:p>
        </p:txBody>
      </p:sp>
      <p:sp>
        <p:nvSpPr>
          <p:cNvPr id="6" name="Bảo vệ thông tin"/>
          <p:cNvSpPr txBox="1"/>
          <p:nvPr/>
        </p:nvSpPr>
        <p:spPr>
          <a:xfrm>
            <a:off x="609600" y="3333750"/>
            <a:ext cx="361950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Bảo vệ thông tin</a:t>
            </a:r>
            <a:endParaRPr lang="vi-VN" sz="2100"/>
          </a:p>
        </p:txBody>
      </p:sp>
      <p:sp>
        <p:nvSpPr>
          <p:cNvPr id="7" name="Lưu mật khẩu dạng băm."/>
          <p:cNvSpPr txBox="1"/>
          <p:nvPr/>
        </p:nvSpPr>
        <p:spPr>
          <a:xfrm>
            <a:off x="609600" y="3762375"/>
            <a:ext cx="361950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Lưu mật khẩu dạng băm.</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Kiểm tra dữ liệu tại backend.</a:t>
            </a:r>
            <a:endParaRPr lang="vi-VN" sz="1875"/>
          </a:p>
        </p:txBody>
      </p:sp>
      <p:sp>
        <p:nvSpPr>
          <p:cNvPr id="8" name="Hồ sơ cá nhân"/>
          <p:cNvSpPr txBox="1"/>
          <p:nvPr/>
        </p:nvSpPr>
        <p:spPr>
          <a:xfrm>
            <a:off x="609600" y="5048250"/>
            <a:ext cx="361950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Hồ sơ cá nhân</a:t>
            </a:r>
            <a:endParaRPr lang="vi-VN" sz="2100"/>
          </a:p>
        </p:txBody>
      </p:sp>
      <p:sp>
        <p:nvSpPr>
          <p:cNvPr id="9" name="Cập nhật thông tin"/>
          <p:cNvSpPr txBox="1"/>
          <p:nvPr/>
        </p:nvSpPr>
        <p:spPr>
          <a:xfrm>
            <a:off x="609600" y="5476875"/>
            <a:ext cx="361950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Cập nhật thông tin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thay đổi mật khẩu.</a:t>
            </a:r>
            <a:endParaRPr lang="vi-VN" sz="1875"/>
          </a:p>
        </p:txBody>
      </p:sp>
      <p:pic>
        <p:nvPicPr>
          <p:cNvPr id="10" name="Giao diện đăng nhập" descr="Giao diện đăng nhập"/>
          <p:cNvPicPr>
            <a:picLocks noChangeAspect="1"/>
          </p:cNvPicPr>
          <p:nvPr/>
        </p:nvPicPr>
        <p:blipFill>
          <a:blip r:embed="rId1"/>
          <a:stretch>
            <a:fillRect/>
          </a:stretch>
        </p:blipFill>
        <p:spPr>
          <a:xfrm>
            <a:off x="4657725" y="1915605"/>
            <a:ext cx="2085975" cy="3541140"/>
          </a:xfrm>
          <a:prstGeom prst="rect">
            <a:avLst/>
          </a:prstGeom>
        </p:spPr>
      </p:pic>
      <p:pic>
        <p:nvPicPr>
          <p:cNvPr id="11" name="Giao diện đăng ký" descr="Giao diện đăng ký"/>
          <p:cNvPicPr>
            <a:picLocks noChangeAspect="1"/>
          </p:cNvPicPr>
          <p:nvPr/>
        </p:nvPicPr>
        <p:blipFill>
          <a:blip r:embed="rId2"/>
          <a:stretch>
            <a:fillRect/>
          </a:stretch>
        </p:blipFill>
        <p:spPr>
          <a:xfrm>
            <a:off x="7029450" y="1435414"/>
            <a:ext cx="2085975" cy="4539622"/>
          </a:xfrm>
          <a:prstGeom prst="rect">
            <a:avLst/>
          </a:prstGeom>
        </p:spPr>
      </p:pic>
      <p:pic>
        <p:nvPicPr>
          <p:cNvPr id="12" name="Giao diện hồ sơ cá nhân" descr="Giao diện hồ sơ cá nhân"/>
          <p:cNvPicPr>
            <a:picLocks noChangeAspect="1"/>
          </p:cNvPicPr>
          <p:nvPr/>
        </p:nvPicPr>
        <p:blipFill>
          <a:blip r:embed="rId3"/>
          <a:stretch>
            <a:fillRect/>
          </a:stretch>
        </p:blipFill>
        <p:spPr>
          <a:xfrm>
            <a:off x="9416198" y="1428750"/>
            <a:ext cx="2055930" cy="4552950"/>
          </a:xfrm>
          <a:prstGeom prst="rect">
            <a:avLst/>
          </a:prstGeom>
        </p:spPr>
      </p:pic>
      <p:sp>
        <p:nvSpPr>
          <p:cNvPr id="13" name="Đăng nhập"/>
          <p:cNvSpPr txBox="1"/>
          <p:nvPr/>
        </p:nvSpPr>
        <p:spPr>
          <a:xfrm>
            <a:off x="4657725" y="6076950"/>
            <a:ext cx="2085975" cy="266700"/>
          </a:xfrm>
          <a:prstGeom prst="rect">
            <a:avLst/>
          </a:prstGeom>
          <a:noFill/>
          <a:ln>
            <a:noFill/>
          </a:ln>
        </p:spPr>
        <p:txBody>
          <a:bodyPr wrap="none" lIns="0" tIns="0" rIns="0" bIns="0" anchor="t">
            <a:noAutofit/>
          </a:bodyPr>
          <a:lstStyle/>
          <a:p>
            <a:pPr>
              <a:lnSpc>
                <a:spcPts val="1825"/>
              </a:lnSpc>
              <a:buNone/>
            </a:pPr>
            <a:r>
              <a:rPr lang="vi-VN" sz="1425" b="1">
                <a:solidFill>
                  <a:srgbClr val="606777"/>
                </a:solidFill>
                <a:latin typeface="Arial" panose="020B0604020202020204"/>
                <a:ea typeface="Arial" panose="020B0604020202020204"/>
                <a:cs typeface="Arial" panose="020B0604020202020204"/>
              </a:rPr>
              <a:t>Đăng nhập</a:t>
            </a:r>
            <a:endParaRPr lang="vi-VN" sz="1425"/>
          </a:p>
        </p:txBody>
      </p:sp>
      <p:sp>
        <p:nvSpPr>
          <p:cNvPr id="14" name="Đăng ký"/>
          <p:cNvSpPr txBox="1"/>
          <p:nvPr/>
        </p:nvSpPr>
        <p:spPr>
          <a:xfrm>
            <a:off x="7029450" y="6076950"/>
            <a:ext cx="2085975" cy="266700"/>
          </a:xfrm>
          <a:prstGeom prst="rect">
            <a:avLst/>
          </a:prstGeom>
          <a:noFill/>
          <a:ln>
            <a:noFill/>
          </a:ln>
        </p:spPr>
        <p:txBody>
          <a:bodyPr wrap="none" lIns="0" tIns="0" rIns="0" bIns="0" anchor="t">
            <a:noAutofit/>
          </a:bodyPr>
          <a:lstStyle/>
          <a:p>
            <a:pPr>
              <a:lnSpc>
                <a:spcPts val="1825"/>
              </a:lnSpc>
              <a:buNone/>
            </a:pPr>
            <a:r>
              <a:rPr lang="vi-VN" sz="1425" b="1">
                <a:solidFill>
                  <a:srgbClr val="606777"/>
                </a:solidFill>
                <a:latin typeface="Arial" panose="020B0604020202020204"/>
                <a:ea typeface="Arial" panose="020B0604020202020204"/>
                <a:cs typeface="Arial" panose="020B0604020202020204"/>
              </a:rPr>
              <a:t>Đăng ký</a:t>
            </a:r>
            <a:endParaRPr lang="vi-VN" sz="1425"/>
          </a:p>
        </p:txBody>
      </p:sp>
      <p:sp>
        <p:nvSpPr>
          <p:cNvPr id="15" name="Hồ sơ"/>
          <p:cNvSpPr txBox="1"/>
          <p:nvPr/>
        </p:nvSpPr>
        <p:spPr>
          <a:xfrm>
            <a:off x="9401175" y="6076950"/>
            <a:ext cx="2085975" cy="266700"/>
          </a:xfrm>
          <a:prstGeom prst="rect">
            <a:avLst/>
          </a:prstGeom>
          <a:noFill/>
          <a:ln>
            <a:noFill/>
          </a:ln>
        </p:spPr>
        <p:txBody>
          <a:bodyPr wrap="none" lIns="0" tIns="0" rIns="0" bIns="0" anchor="t">
            <a:noAutofit/>
          </a:bodyPr>
          <a:lstStyle/>
          <a:p>
            <a:pPr>
              <a:lnSpc>
                <a:spcPts val="1825"/>
              </a:lnSpc>
              <a:buNone/>
            </a:pPr>
            <a:r>
              <a:rPr lang="vi-VN" sz="1425" b="1">
                <a:solidFill>
                  <a:srgbClr val="606777"/>
                </a:solidFill>
                <a:latin typeface="Arial" panose="020B0604020202020204"/>
                <a:ea typeface="Arial" panose="020B0604020202020204"/>
                <a:cs typeface="Arial" panose="020B0604020202020204"/>
              </a:rPr>
              <a:t>Hồ sơ</a:t>
            </a:r>
            <a:endParaRPr lang="vi-VN" sz="142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Quản lý công việc cá nhân"/>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Quản lý công việc cá nhân</a:t>
            </a:r>
            <a:endParaRPr lang="vi-VN" sz="3300"/>
          </a:p>
        </p:txBody>
      </p:sp>
      <p:sp>
        <p:nvSpPr>
          <p:cNvPr id="3" name="09"/>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09</a:t>
            </a:r>
            <a:endParaRPr lang="vi-VN" sz="1200"/>
          </a:p>
        </p:txBody>
      </p:sp>
      <p:pic>
        <p:nvPicPr>
          <p:cNvPr id="4" name="Danh sách công việc cá nhân" descr="Danh sách công việc cá nhân"/>
          <p:cNvPicPr>
            <a:picLocks noChangeAspect="1"/>
          </p:cNvPicPr>
          <p:nvPr/>
        </p:nvPicPr>
        <p:blipFill>
          <a:blip r:embed="rId1"/>
          <a:stretch>
            <a:fillRect/>
          </a:stretch>
        </p:blipFill>
        <p:spPr>
          <a:xfrm>
            <a:off x="8260516" y="1304925"/>
            <a:ext cx="2357519" cy="4933950"/>
          </a:xfrm>
          <a:prstGeom prst="rect">
            <a:avLst/>
          </a:prstGeom>
        </p:spPr>
      </p:pic>
      <p:sp>
        <p:nvSpPr>
          <p:cNvPr id="5" name="Tạo và tổ chức nhiệm vụ"/>
          <p:cNvSpPr txBox="1"/>
          <p:nvPr/>
        </p:nvSpPr>
        <p:spPr>
          <a:xfrm>
            <a:off x="609600" y="1600200"/>
            <a:ext cx="6762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Tạo và tổ chức nhiệm vụ</a:t>
            </a:r>
            <a:endParaRPr lang="vi-VN" sz="2100"/>
          </a:p>
        </p:txBody>
      </p:sp>
      <p:sp>
        <p:nvSpPr>
          <p:cNvPr id="6" name="Tiêu đề, mô tả, danh mục, thời hạn"/>
          <p:cNvSpPr txBox="1"/>
          <p:nvPr/>
        </p:nvSpPr>
        <p:spPr>
          <a:xfrm>
            <a:off x="609600" y="2028825"/>
            <a:ext cx="6762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Tiêu đề, mô tả, danh mục, thời hạn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mức độ ưu tiên.</a:t>
            </a:r>
            <a:endParaRPr lang="vi-VN" sz="1875"/>
          </a:p>
        </p:txBody>
      </p:sp>
      <p:sp>
        <p:nvSpPr>
          <p:cNvPr id="7" name="Cập nhật tiến độ"/>
          <p:cNvSpPr txBox="1"/>
          <p:nvPr/>
        </p:nvSpPr>
        <p:spPr>
          <a:xfrm>
            <a:off x="609600" y="3209925"/>
            <a:ext cx="6762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Cập nhật tiến độ</a:t>
            </a:r>
            <a:endParaRPr lang="vi-VN" sz="2100"/>
          </a:p>
        </p:txBody>
      </p:sp>
      <p:sp>
        <p:nvSpPr>
          <p:cNvPr id="8" name="Chưa làm, đang làm, hoàn thành."/>
          <p:cNvSpPr txBox="1"/>
          <p:nvPr/>
        </p:nvSpPr>
        <p:spPr>
          <a:xfrm>
            <a:off x="609600" y="3638550"/>
            <a:ext cx="6762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Chưa làm, đang làm, hoàn thành.</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Theo dõi qua danh sách hoặc bảng.</a:t>
            </a:r>
            <a:endParaRPr lang="vi-VN" sz="1875"/>
          </a:p>
        </p:txBody>
      </p:sp>
      <p:sp>
        <p:nvSpPr>
          <p:cNvPr id="9" name="Tìm kiếm và xử lý công việc"/>
          <p:cNvSpPr txBox="1"/>
          <p:nvPr/>
        </p:nvSpPr>
        <p:spPr>
          <a:xfrm>
            <a:off x="609600" y="4819650"/>
            <a:ext cx="6762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Tìm kiếm và xử lý công việc</a:t>
            </a:r>
            <a:endParaRPr lang="vi-VN" sz="2100"/>
          </a:p>
        </p:txBody>
      </p:sp>
      <p:sp>
        <p:nvSpPr>
          <p:cNvPr id="10" name="Tìm kiếm, lọc danh sách và chỉnh sửa."/>
          <p:cNvSpPr txBox="1"/>
          <p:nvPr/>
        </p:nvSpPr>
        <p:spPr>
          <a:xfrm>
            <a:off x="609600" y="5248275"/>
            <a:ext cx="6762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Tìm kiếm, lọc danh sách và chỉnh sửa.</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Thùng rác hỗ trợ quản lý mục đã xóa.</a:t>
            </a:r>
            <a:endParaRPr lang="vi-VN" sz="18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Cộng tác và phân công trong nhóm"/>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Cộng tác và phân công trong nhóm</a:t>
            </a:r>
            <a:endParaRPr lang="vi-VN" sz="3300"/>
          </a:p>
        </p:txBody>
      </p:sp>
      <p:sp>
        <p:nvSpPr>
          <p:cNvPr id="3" name="10"/>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10</a:t>
            </a:r>
            <a:endParaRPr lang="vi-VN" sz="1200"/>
          </a:p>
        </p:txBody>
      </p:sp>
      <p:pic>
        <p:nvPicPr>
          <p:cNvPr id="4" name="Giao diện thành viên và quản lý nhóm" descr="Giao diện thành viên và quản lý nhóm"/>
          <p:cNvPicPr>
            <a:picLocks noChangeAspect="1"/>
          </p:cNvPicPr>
          <p:nvPr/>
        </p:nvPicPr>
        <p:blipFill>
          <a:blip r:embed="rId1"/>
          <a:stretch>
            <a:fillRect/>
          </a:stretch>
        </p:blipFill>
        <p:spPr>
          <a:xfrm>
            <a:off x="8266947" y="1304925"/>
            <a:ext cx="2382757" cy="4933950"/>
          </a:xfrm>
          <a:prstGeom prst="rect">
            <a:avLst/>
          </a:prstGeom>
        </p:spPr>
      </p:pic>
      <p:sp>
        <p:nvSpPr>
          <p:cNvPr id="5" name="Không gian làm việc chung"/>
          <p:cNvSpPr txBox="1"/>
          <p:nvPr/>
        </p:nvSpPr>
        <p:spPr>
          <a:xfrm>
            <a:off x="609600" y="1600200"/>
            <a:ext cx="671512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Không gian làm việc chung</a:t>
            </a:r>
            <a:endParaRPr lang="vi-VN" sz="2100"/>
          </a:p>
        </p:txBody>
      </p:sp>
      <p:sp>
        <p:nvSpPr>
          <p:cNvPr id="6" name="Mỗi nhóm có thông tin, thành viên"/>
          <p:cNvSpPr txBox="1"/>
          <p:nvPr/>
        </p:nvSpPr>
        <p:spPr>
          <a:xfrm>
            <a:off x="609600" y="2028825"/>
            <a:ext cx="671512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Mỗi nhóm có thông tin, thành viên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danh sách nhiệm vụ riêng.</a:t>
            </a:r>
            <a:endParaRPr lang="vi-VN" sz="1875"/>
          </a:p>
        </p:txBody>
      </p:sp>
      <p:sp>
        <p:nvSpPr>
          <p:cNvPr id="7" name="Trưởng nhóm phân công"/>
          <p:cNvSpPr txBox="1"/>
          <p:nvPr/>
        </p:nvSpPr>
        <p:spPr>
          <a:xfrm>
            <a:off x="609600" y="3209925"/>
            <a:ext cx="671512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Trưởng nhóm phân công</a:t>
            </a:r>
            <a:endParaRPr lang="vi-VN" sz="2100"/>
          </a:p>
        </p:txBody>
      </p:sp>
      <p:sp>
        <p:nvSpPr>
          <p:cNvPr id="8" name="Tạo nhiệm vụ, lựa chọn người nhận"/>
          <p:cNvSpPr txBox="1"/>
          <p:nvPr/>
        </p:nvSpPr>
        <p:spPr>
          <a:xfrm>
            <a:off x="609600" y="3638550"/>
            <a:ext cx="671512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Tạo nhiệm vụ, lựa chọn người nhận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quản lý danh sách thành viên.</a:t>
            </a:r>
            <a:endParaRPr lang="vi-VN" sz="1875"/>
          </a:p>
        </p:txBody>
      </p:sp>
      <p:sp>
        <p:nvSpPr>
          <p:cNvPr id="9" name="Quyền gắn với từng nhóm"/>
          <p:cNvSpPr txBox="1"/>
          <p:nvPr/>
        </p:nvSpPr>
        <p:spPr>
          <a:xfrm>
            <a:off x="609600" y="4819650"/>
            <a:ext cx="671512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Quyền gắn với từng nhóm</a:t>
            </a:r>
            <a:endParaRPr lang="vi-VN" sz="2100"/>
          </a:p>
        </p:txBody>
      </p:sp>
      <p:sp>
        <p:nvSpPr>
          <p:cNvPr id="10" name="Backend kiểm tra vai trò và thành viên"/>
          <p:cNvSpPr txBox="1"/>
          <p:nvPr/>
        </p:nvSpPr>
        <p:spPr>
          <a:xfrm>
            <a:off x="609600" y="5248275"/>
            <a:ext cx="671512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Backend kiểm tra vai trò và thành viên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trước khi cho phép thao tác.</a:t>
            </a:r>
            <a:endParaRPr lang="vi-VN" sz="18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Lịch công việc và theo dõi tiến độ"/>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Lịch công việc và theo dõi tiến độ</a:t>
            </a:r>
            <a:endParaRPr lang="vi-VN" sz="3300"/>
          </a:p>
        </p:txBody>
      </p:sp>
      <p:sp>
        <p:nvSpPr>
          <p:cNvPr id="3" name="11"/>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11</a:t>
            </a:r>
            <a:endParaRPr lang="vi-VN" sz="1200"/>
          </a:p>
        </p:txBody>
      </p:sp>
      <p:sp>
        <p:nvSpPr>
          <p:cNvPr id="4" name="Theo dõi thời hạn"/>
          <p:cNvSpPr txBox="1"/>
          <p:nvPr/>
        </p:nvSpPr>
        <p:spPr>
          <a:xfrm>
            <a:off x="609600" y="1809750"/>
            <a:ext cx="47148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Theo dõi thời hạn</a:t>
            </a:r>
            <a:endParaRPr lang="vi-VN" sz="2100"/>
          </a:p>
        </p:txBody>
      </p:sp>
      <p:sp>
        <p:nvSpPr>
          <p:cNvPr id="5" name="Xem công việc theo ngày"/>
          <p:cNvSpPr txBox="1"/>
          <p:nvPr/>
        </p:nvSpPr>
        <p:spPr>
          <a:xfrm>
            <a:off x="609600" y="2238375"/>
            <a:ext cx="47148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Xem công việc theo ngày</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trên lịch của ứng dụng.</a:t>
            </a:r>
            <a:endParaRPr lang="vi-VN" sz="1875"/>
          </a:p>
        </p:txBody>
      </p:sp>
      <p:sp>
        <p:nvSpPr>
          <p:cNvPr id="6" name="Nắm tình hình thực hiện"/>
          <p:cNvSpPr txBox="1"/>
          <p:nvPr/>
        </p:nvSpPr>
        <p:spPr>
          <a:xfrm>
            <a:off x="609600" y="3695700"/>
            <a:ext cx="47148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Nắm tình hình thực hiện</a:t>
            </a:r>
            <a:endParaRPr lang="vi-VN" sz="2100"/>
          </a:p>
        </p:txBody>
      </p:sp>
      <p:sp>
        <p:nvSpPr>
          <p:cNvPr id="7" name="Tổng hợp số lượng và trạng thái."/>
          <p:cNvSpPr txBox="1"/>
          <p:nvPr/>
        </p:nvSpPr>
        <p:spPr>
          <a:xfrm>
            <a:off x="609600" y="4124325"/>
            <a:ext cx="47148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Tổng hợp số lượng và trạng thái.</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Tìm nhanh công việc cần xử lý.</a:t>
            </a:r>
            <a:endParaRPr lang="vi-VN" sz="1875"/>
          </a:p>
        </p:txBody>
      </p:sp>
      <p:sp>
        <p:nvSpPr>
          <p:cNvPr id="8" name="Thống kê hiện ở mức tổng quan."/>
          <p:cNvSpPr txBox="1"/>
          <p:nvPr/>
        </p:nvSpPr>
        <p:spPr>
          <a:xfrm>
            <a:off x="609600" y="5648325"/>
            <a:ext cx="4953000" cy="571500"/>
          </a:xfrm>
          <a:prstGeom prst="rect">
            <a:avLst/>
          </a:prstGeom>
          <a:noFill/>
          <a:ln>
            <a:noFill/>
          </a:ln>
        </p:spPr>
        <p:txBody>
          <a:bodyPr wrap="none" lIns="0" tIns="0" rIns="0" bIns="0" anchor="t">
            <a:noAutofit/>
          </a:bodyPr>
          <a:lstStyle/>
          <a:p>
            <a:pPr>
              <a:lnSpc>
                <a:spcPts val="2400"/>
              </a:lnSpc>
              <a:buNone/>
            </a:pPr>
            <a:r>
              <a:rPr lang="vi-VN" sz="1875" b="0">
                <a:solidFill>
                  <a:srgbClr val="606777"/>
                </a:solidFill>
                <a:latin typeface="Arial" panose="020B0604020202020204"/>
                <a:ea typeface="Arial" panose="020B0604020202020204"/>
                <a:cs typeface="Arial" panose="020B0604020202020204"/>
              </a:rPr>
              <a:t>Thống kê hiện ở mức tổng quan.</a:t>
            </a:r>
            <a:endParaRPr lang="vi-VN" sz="1875"/>
          </a:p>
        </p:txBody>
      </p:sp>
      <p:pic>
        <p:nvPicPr>
          <p:cNvPr id="9" name="Giao diện lịch công việc" descr="Giao diện lịch công việc"/>
          <p:cNvPicPr>
            <a:picLocks noChangeAspect="1"/>
          </p:cNvPicPr>
          <p:nvPr/>
        </p:nvPicPr>
        <p:blipFill>
          <a:blip r:embed="rId1"/>
          <a:stretch>
            <a:fillRect/>
          </a:stretch>
        </p:blipFill>
        <p:spPr>
          <a:xfrm>
            <a:off x="6052344" y="1333500"/>
            <a:ext cx="2373313" cy="4953000"/>
          </a:xfrm>
          <a:prstGeom prst="rect">
            <a:avLst/>
          </a:prstGeom>
        </p:spPr>
      </p:pic>
      <p:pic>
        <p:nvPicPr>
          <p:cNvPr id="10" name="Trang chủ hiển thị tiến độ và công việc" descr="Trang chủ hiển thị tiến độ và công việc"/>
          <p:cNvPicPr>
            <a:picLocks noChangeAspect="1"/>
          </p:cNvPicPr>
          <p:nvPr/>
        </p:nvPicPr>
        <p:blipFill>
          <a:blip r:embed="rId2"/>
          <a:stretch>
            <a:fillRect/>
          </a:stretch>
        </p:blipFill>
        <p:spPr>
          <a:xfrm>
            <a:off x="8949540" y="1333500"/>
            <a:ext cx="2332021" cy="4953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Giao diện quản trị tài khoản"/>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Giao diện quản trị tài khoản</a:t>
            </a:r>
            <a:endParaRPr lang="vi-VN" sz="3300"/>
          </a:p>
        </p:txBody>
      </p:sp>
      <p:sp>
        <p:nvSpPr>
          <p:cNvPr id="3" name="12"/>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12</a:t>
            </a:r>
            <a:endParaRPr lang="vi-VN" sz="1200"/>
          </a:p>
        </p:txBody>
      </p:sp>
      <p:pic>
        <p:nvPicPr>
          <p:cNvPr id="4" name="Giao diện quản lý tài khoản người dùng" descr="Giao diện quản lý tài khoản người dùng"/>
          <p:cNvPicPr>
            <a:picLocks noChangeAspect="1"/>
          </p:cNvPicPr>
          <p:nvPr/>
        </p:nvPicPr>
        <p:blipFill>
          <a:blip r:embed="rId1"/>
          <a:stretch>
            <a:fillRect/>
          </a:stretch>
        </p:blipFill>
        <p:spPr>
          <a:xfrm>
            <a:off x="2003495" y="1419225"/>
            <a:ext cx="8185009" cy="4095750"/>
          </a:xfrm>
          <a:prstGeom prst="rect">
            <a:avLst/>
          </a:prstGeom>
        </p:spPr>
      </p:pic>
      <p:sp>
        <p:nvSpPr>
          <p:cNvPr id="5" name="Danh sách người dùng"/>
          <p:cNvSpPr txBox="1"/>
          <p:nvPr/>
        </p:nvSpPr>
        <p:spPr>
          <a:xfrm>
            <a:off x="609600" y="5762625"/>
            <a:ext cx="3524250" cy="428625"/>
          </a:xfrm>
          <a:prstGeom prst="rect">
            <a:avLst/>
          </a:prstGeom>
          <a:noFill/>
          <a:ln>
            <a:noFill/>
          </a:ln>
        </p:spPr>
        <p:txBody>
          <a:bodyPr wrap="none" lIns="0" tIns="0" rIns="0" bIns="0" anchor="t">
            <a:noAutofit/>
          </a:bodyPr>
          <a:lstStyle/>
          <a:p>
            <a:pPr>
              <a:lnSpc>
                <a:spcPts val="2590"/>
              </a:lnSpc>
              <a:buNone/>
            </a:pPr>
            <a:r>
              <a:rPr lang="vi-VN" sz="2025" b="1">
                <a:solidFill>
                  <a:srgbClr val="554CEC"/>
                </a:solidFill>
                <a:latin typeface="Arial" panose="020B0604020202020204"/>
                <a:ea typeface="Arial" panose="020B0604020202020204"/>
                <a:cs typeface="Arial" panose="020B0604020202020204"/>
              </a:rPr>
              <a:t>Danh sách người dùng</a:t>
            </a:r>
            <a:endParaRPr lang="vi-VN" sz="2025"/>
          </a:p>
        </p:txBody>
      </p:sp>
      <p:sp>
        <p:nvSpPr>
          <p:cNvPr id="6" name="Thêm và sửa thông tin"/>
          <p:cNvSpPr txBox="1"/>
          <p:nvPr/>
        </p:nvSpPr>
        <p:spPr>
          <a:xfrm>
            <a:off x="4362450" y="5762625"/>
            <a:ext cx="3714750" cy="428625"/>
          </a:xfrm>
          <a:prstGeom prst="rect">
            <a:avLst/>
          </a:prstGeom>
          <a:noFill/>
          <a:ln>
            <a:noFill/>
          </a:ln>
        </p:spPr>
        <p:txBody>
          <a:bodyPr wrap="none" lIns="0" tIns="0" rIns="0" bIns="0" anchor="t">
            <a:noAutofit/>
          </a:bodyPr>
          <a:lstStyle/>
          <a:p>
            <a:pPr>
              <a:lnSpc>
                <a:spcPts val="2590"/>
              </a:lnSpc>
              <a:buNone/>
            </a:pPr>
            <a:r>
              <a:rPr lang="vi-VN" sz="2025" b="1">
                <a:solidFill>
                  <a:srgbClr val="554CEC"/>
                </a:solidFill>
                <a:latin typeface="Arial" panose="020B0604020202020204"/>
                <a:ea typeface="Arial" panose="020B0604020202020204"/>
                <a:cs typeface="Arial" panose="020B0604020202020204"/>
              </a:rPr>
              <a:t>Thêm và sửa thông tin</a:t>
            </a:r>
            <a:endParaRPr lang="vi-VN" sz="2025"/>
          </a:p>
        </p:txBody>
      </p:sp>
      <p:sp>
        <p:nvSpPr>
          <p:cNvPr id="7" name="Xác nhận trước khi xóa"/>
          <p:cNvSpPr txBox="1"/>
          <p:nvPr/>
        </p:nvSpPr>
        <p:spPr>
          <a:xfrm>
            <a:off x="8229600" y="5762625"/>
            <a:ext cx="3381375" cy="428625"/>
          </a:xfrm>
          <a:prstGeom prst="rect">
            <a:avLst/>
          </a:prstGeom>
          <a:noFill/>
          <a:ln>
            <a:noFill/>
          </a:ln>
        </p:spPr>
        <p:txBody>
          <a:bodyPr wrap="none" lIns="0" tIns="0" rIns="0" bIns="0" anchor="t">
            <a:noAutofit/>
          </a:bodyPr>
          <a:lstStyle/>
          <a:p>
            <a:pPr>
              <a:lnSpc>
                <a:spcPts val="2590"/>
              </a:lnSpc>
              <a:buNone/>
            </a:pPr>
            <a:r>
              <a:rPr lang="vi-VN" sz="2025" b="1">
                <a:solidFill>
                  <a:srgbClr val="554CEC"/>
                </a:solidFill>
                <a:latin typeface="Arial" panose="020B0604020202020204"/>
                <a:ea typeface="Arial" panose="020B0604020202020204"/>
                <a:cs typeface="Arial" panose="020B0604020202020204"/>
              </a:rPr>
              <a:t>Xác nhận trước khi xóa</a:t>
            </a:r>
            <a:endParaRPr lang="vi-VN" sz="202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Kiểm thử ứng dụng"/>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Kiểm thử ứng dụng</a:t>
            </a:r>
            <a:endParaRPr lang="vi-VN" sz="3300"/>
          </a:p>
        </p:txBody>
      </p:sp>
      <p:sp>
        <p:nvSpPr>
          <p:cNvPr id="3" name="13"/>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13</a:t>
            </a:r>
            <a:endParaRPr lang="vi-VN" sz="1200"/>
          </a:p>
        </p:txBody>
      </p:sp>
      <p:sp>
        <p:nvSpPr>
          <p:cNvPr id="4" name="Chức năng"/>
          <p:cNvSpPr txBox="1"/>
          <p:nvPr/>
        </p:nvSpPr>
        <p:spPr>
          <a:xfrm>
            <a:off x="609600" y="173355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Chức năng</a:t>
            </a:r>
            <a:endParaRPr lang="vi-VN" sz="2100"/>
          </a:p>
        </p:txBody>
      </p:sp>
      <p:sp>
        <p:nvSpPr>
          <p:cNvPr id="5" name="Luồng hợp lệ, dữ liệu sai,"/>
          <p:cNvSpPr txBox="1"/>
          <p:nvPr/>
        </p:nvSpPr>
        <p:spPr>
          <a:xfrm>
            <a:off x="609600" y="216217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Luồng hợp lệ, dữ liệu sai,</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thiếu quyền và lỗi kết nối.</a:t>
            </a:r>
            <a:endParaRPr lang="vi-VN" sz="1875"/>
          </a:p>
        </p:txBody>
      </p:sp>
      <p:sp>
        <p:nvSpPr>
          <p:cNvPr id="6" name="Dữ liệu"/>
          <p:cNvSpPr txBox="1"/>
          <p:nvPr/>
        </p:nvSpPr>
        <p:spPr>
          <a:xfrm>
            <a:off x="4429125" y="173355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Dữ liệu</a:t>
            </a:r>
            <a:endParaRPr lang="vi-VN" sz="2100"/>
          </a:p>
        </p:txBody>
      </p:sp>
      <p:sp>
        <p:nvSpPr>
          <p:cNvPr id="7" name="Tạo, sửa, xóa và quan hệ bảng."/>
          <p:cNvSpPr txBox="1"/>
          <p:nvPr/>
        </p:nvSpPr>
        <p:spPr>
          <a:xfrm>
            <a:off x="4429125" y="216217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Tạo, sửa, xóa và quan hệ bảng.</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Giao dịch, migration thử nghiệm.</a:t>
            </a:r>
            <a:endParaRPr lang="vi-VN" sz="1875"/>
          </a:p>
        </p:txBody>
      </p:sp>
      <p:sp>
        <p:nvSpPr>
          <p:cNvPr id="8" name="Giao diện Android"/>
          <p:cNvSpPr txBox="1"/>
          <p:nvPr/>
        </p:nvSpPr>
        <p:spPr>
          <a:xfrm>
            <a:off x="8248650" y="1733550"/>
            <a:ext cx="3333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Giao diện Android</a:t>
            </a:r>
            <a:endParaRPr lang="vi-VN" sz="2100"/>
          </a:p>
        </p:txBody>
      </p:sp>
      <p:sp>
        <p:nvSpPr>
          <p:cNvPr id="9" name="Danh sách rỗng, nội dung dài,"/>
          <p:cNvSpPr txBox="1"/>
          <p:nvPr/>
        </p:nvSpPr>
        <p:spPr>
          <a:xfrm>
            <a:off x="8248650" y="2162175"/>
            <a:ext cx="3333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Danh sách rỗng, nội dung dài,</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đang tải và thông báo lỗi.</a:t>
            </a:r>
            <a:endParaRPr lang="vi-VN" sz="1875"/>
          </a:p>
        </p:txBody>
      </p:sp>
      <p:sp>
        <p:nvSpPr>
          <p:cNvPr id="10" name="Kiểm tra xuyên suốt từ thao tác"/>
          <p:cNvSpPr txBox="1"/>
          <p:nvPr/>
        </p:nvSpPr>
        <p:spPr>
          <a:xfrm>
            <a:off x="609600" y="4095750"/>
            <a:ext cx="10953750" cy="1238250"/>
          </a:xfrm>
          <a:prstGeom prst="rect">
            <a:avLst/>
          </a:prstGeom>
          <a:noFill/>
          <a:ln>
            <a:noFill/>
          </a:ln>
        </p:spPr>
        <p:txBody>
          <a:bodyPr wrap="none" lIns="0" tIns="0" rIns="0" bIns="0" anchor="t">
            <a:noAutofit/>
          </a:bodyPr>
          <a:lstStyle/>
          <a:p>
            <a:pPr>
              <a:lnSpc>
                <a:spcPts val="4030"/>
              </a:lnSpc>
              <a:buNone/>
            </a:pPr>
            <a:r>
              <a:rPr lang="vi-VN" sz="3150" b="1">
                <a:solidFill>
                  <a:srgbClr val="20213B"/>
                </a:solidFill>
                <a:latin typeface="Arial" panose="020B0604020202020204"/>
                <a:ea typeface="Arial" panose="020B0604020202020204"/>
                <a:cs typeface="Arial" panose="020B0604020202020204"/>
              </a:rPr>
              <a:t>Kiểm tra xuyên suốt từ thao tác</a:t>
            </a:r>
            <a:endParaRPr lang="vi-VN" sz="3150"/>
          </a:p>
          <a:p>
            <a:pPr>
              <a:lnSpc>
                <a:spcPts val="4030"/>
              </a:lnSpc>
              <a:buNone/>
            </a:pPr>
            <a:r>
              <a:rPr lang="vi-VN" sz="3150" b="1">
                <a:solidFill>
                  <a:srgbClr val="20213B"/>
                </a:solidFill>
                <a:latin typeface="Arial" panose="020B0604020202020204"/>
                <a:ea typeface="Arial" panose="020B0604020202020204"/>
                <a:cs typeface="Arial" panose="020B0604020202020204"/>
              </a:rPr>
              <a:t>trên mobile đến dữ liệu tại backend</a:t>
            </a:r>
            <a:endParaRPr lang="vi-VN" sz="3150"/>
          </a:p>
        </p:txBody>
      </p:sp>
      <p:sp>
        <p:nvSpPr>
          <p:cNvPr id="11" name="Kết hợp kiểm thử mã nguồn với thao tác trực tiếp trên ứng dụng."/>
          <p:cNvSpPr txBox="1"/>
          <p:nvPr/>
        </p:nvSpPr>
        <p:spPr>
          <a:xfrm>
            <a:off x="609600" y="5753100"/>
            <a:ext cx="10668000" cy="428625"/>
          </a:xfrm>
          <a:prstGeom prst="rect">
            <a:avLst/>
          </a:prstGeom>
          <a:noFill/>
          <a:ln>
            <a:noFill/>
          </a:ln>
        </p:spPr>
        <p:txBody>
          <a:bodyPr wrap="none" lIns="0" tIns="0" rIns="0" bIns="0" anchor="t">
            <a:noAutofit/>
          </a:bodyPr>
          <a:lstStyle/>
          <a:p>
            <a:pPr>
              <a:lnSpc>
                <a:spcPts val="2495"/>
              </a:lnSpc>
              <a:buNone/>
            </a:pPr>
            <a:r>
              <a:rPr lang="vi-VN" sz="1950" b="0">
                <a:solidFill>
                  <a:srgbClr val="606777"/>
                </a:solidFill>
                <a:latin typeface="Arial" panose="020B0604020202020204"/>
                <a:ea typeface="Arial" panose="020B0604020202020204"/>
                <a:cs typeface="Arial" panose="020B0604020202020204"/>
              </a:rPr>
              <a:t>Kết hợp kiểm thử mã nguồn với thao tác trực tiếp trên ứng dụng.</a:t>
            </a:r>
            <a:endParaRPr lang="vi-VN" sz="19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Kết quả đạt được và hạn chế"/>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Kết quả đạt được và hạn chế</a:t>
            </a:r>
            <a:endParaRPr lang="vi-VN" sz="3300"/>
          </a:p>
        </p:txBody>
      </p:sp>
      <p:sp>
        <p:nvSpPr>
          <p:cNvPr id="3" name="14"/>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14</a:t>
            </a:r>
            <a:endParaRPr lang="vi-VN" sz="1200"/>
          </a:p>
        </p:txBody>
      </p:sp>
      <p:sp>
        <p:nvSpPr>
          <p:cNvPr id="4" name="Kết quả đạt được"/>
          <p:cNvSpPr txBox="1"/>
          <p:nvPr/>
        </p:nvSpPr>
        <p:spPr>
          <a:xfrm>
            <a:off x="609600" y="1581150"/>
            <a:ext cx="5238750" cy="457200"/>
          </a:xfrm>
          <a:prstGeom prst="rect">
            <a:avLst/>
          </a:prstGeom>
          <a:noFill/>
          <a:ln>
            <a:noFill/>
          </a:ln>
        </p:spPr>
        <p:txBody>
          <a:bodyPr wrap="none" lIns="0" tIns="0" rIns="0" bIns="0" anchor="t">
            <a:noAutofit/>
          </a:bodyPr>
          <a:lstStyle/>
          <a:p>
            <a:pPr>
              <a:lnSpc>
                <a:spcPts val="3265"/>
              </a:lnSpc>
              <a:buNone/>
            </a:pPr>
            <a:r>
              <a:rPr lang="vi-VN" sz="2550" b="1">
                <a:solidFill>
                  <a:srgbClr val="554CEC"/>
                </a:solidFill>
                <a:latin typeface="Arial" panose="020B0604020202020204"/>
                <a:ea typeface="Arial" panose="020B0604020202020204"/>
                <a:cs typeface="Arial" panose="020B0604020202020204"/>
              </a:rPr>
              <a:t>Kết quả đạt được</a:t>
            </a:r>
            <a:endParaRPr lang="vi-VN" sz="2550"/>
          </a:p>
        </p:txBody>
      </p:sp>
      <p:sp>
        <p:nvSpPr>
          <p:cNvPr id="5" name="Ứng dụng quản lý công việc trên Android."/>
          <p:cNvSpPr txBox="1"/>
          <p:nvPr/>
        </p:nvSpPr>
        <p:spPr>
          <a:xfrm>
            <a:off x="609600" y="2286000"/>
            <a:ext cx="5219700" cy="3209925"/>
          </a:xfrm>
          <a:prstGeom prst="rect">
            <a:avLst/>
          </a:prstGeom>
          <a:noFill/>
          <a:ln>
            <a:noFill/>
          </a:ln>
        </p:spPr>
        <p:txBody>
          <a:bodyPr wrap="none" lIns="0" tIns="0" rIns="0" bIns="0" anchor="t">
            <a:noAutofit/>
          </a:bodyPr>
          <a:lstStyle/>
          <a:p>
            <a:pPr>
              <a:lnSpc>
                <a:spcPts val="2590"/>
              </a:lnSpc>
              <a:buNone/>
            </a:pPr>
            <a:r>
              <a:rPr lang="vi-VN" sz="2025" b="0">
                <a:solidFill>
                  <a:srgbClr val="20213B"/>
                </a:solidFill>
                <a:latin typeface="Arial" panose="020B0604020202020204"/>
                <a:ea typeface="Arial" panose="020B0604020202020204"/>
                <a:cs typeface="Arial" panose="020B0604020202020204"/>
              </a:rPr>
              <a:t>Ứng dụng quản lý công việc trên Android.</a:t>
            </a:r>
            <a:endParaRPr lang="vi-VN" sz="2025"/>
          </a:p>
          <a:p>
            <a:pPr>
              <a:lnSpc>
                <a:spcPts val="2590"/>
              </a:lnSpc>
              <a:buNone/>
            </a:pPr>
            <a:endParaRPr lang="vi-VN" sz="2025"/>
          </a:p>
          <a:p>
            <a:pPr>
              <a:lnSpc>
                <a:spcPts val="2590"/>
              </a:lnSpc>
              <a:buNone/>
            </a:pPr>
            <a:r>
              <a:rPr lang="vi-VN" sz="2025" b="0">
                <a:solidFill>
                  <a:srgbClr val="20213B"/>
                </a:solidFill>
                <a:latin typeface="Arial" panose="020B0604020202020204"/>
                <a:ea typeface="Arial" panose="020B0604020202020204"/>
                <a:cs typeface="Arial" panose="020B0604020202020204"/>
              </a:rPr>
              <a:t>Hỗ trợ nhiệm vụ cá nhân, nhóm</a:t>
            </a:r>
            <a:endParaRPr lang="vi-VN" sz="2025"/>
          </a:p>
          <a:p>
            <a:pPr>
              <a:lnSpc>
                <a:spcPts val="2590"/>
              </a:lnSpc>
              <a:buNone/>
            </a:pPr>
            <a:r>
              <a:rPr lang="vi-VN" sz="2025" b="0">
                <a:solidFill>
                  <a:srgbClr val="20213B"/>
                </a:solidFill>
                <a:latin typeface="Arial" panose="020B0604020202020204"/>
                <a:ea typeface="Arial" panose="020B0604020202020204"/>
                <a:cs typeface="Arial" panose="020B0604020202020204"/>
              </a:rPr>
              <a:t>và theo dõi tiến độ.</a:t>
            </a:r>
            <a:endParaRPr lang="vi-VN" sz="2025"/>
          </a:p>
          <a:p>
            <a:pPr>
              <a:lnSpc>
                <a:spcPts val="2590"/>
              </a:lnSpc>
              <a:buNone/>
            </a:pPr>
            <a:endParaRPr lang="vi-VN" sz="2025"/>
          </a:p>
          <a:p>
            <a:pPr>
              <a:lnSpc>
                <a:spcPts val="2590"/>
              </a:lnSpc>
              <a:buNone/>
            </a:pPr>
            <a:r>
              <a:rPr lang="vi-VN" sz="2025" b="0">
                <a:solidFill>
                  <a:srgbClr val="20213B"/>
                </a:solidFill>
                <a:latin typeface="Arial" panose="020B0604020202020204"/>
                <a:ea typeface="Arial" panose="020B0604020202020204"/>
                <a:cs typeface="Arial" panose="020B0604020202020204"/>
              </a:rPr>
              <a:t>Kết nối mobile, API và MySQL.</a:t>
            </a:r>
            <a:endParaRPr lang="vi-VN" sz="2025"/>
          </a:p>
        </p:txBody>
      </p:sp>
      <p:sp>
        <p:nvSpPr>
          <p:cNvPr id="6" name="Hạn chế hiện tại"/>
          <p:cNvSpPr txBox="1"/>
          <p:nvPr/>
        </p:nvSpPr>
        <p:spPr>
          <a:xfrm>
            <a:off x="6667500" y="1581150"/>
            <a:ext cx="4905375" cy="457200"/>
          </a:xfrm>
          <a:prstGeom prst="rect">
            <a:avLst/>
          </a:prstGeom>
          <a:noFill/>
          <a:ln>
            <a:noFill/>
          </a:ln>
        </p:spPr>
        <p:txBody>
          <a:bodyPr wrap="none" lIns="0" tIns="0" rIns="0" bIns="0" anchor="t">
            <a:noAutofit/>
          </a:bodyPr>
          <a:lstStyle/>
          <a:p>
            <a:pPr>
              <a:lnSpc>
                <a:spcPts val="3265"/>
              </a:lnSpc>
              <a:buNone/>
            </a:pPr>
            <a:r>
              <a:rPr lang="vi-VN" sz="2550" b="1">
                <a:solidFill>
                  <a:srgbClr val="554CEC"/>
                </a:solidFill>
                <a:latin typeface="Arial" panose="020B0604020202020204"/>
                <a:ea typeface="Arial" panose="020B0604020202020204"/>
                <a:cs typeface="Arial" panose="020B0604020202020204"/>
              </a:rPr>
              <a:t>Hạn chế hiện tại</a:t>
            </a:r>
            <a:endParaRPr lang="vi-VN" sz="2550"/>
          </a:p>
        </p:txBody>
      </p:sp>
      <p:sp>
        <p:nvSpPr>
          <p:cNvPr id="7" name="Phụ thuộc kết nối mạng."/>
          <p:cNvSpPr txBox="1"/>
          <p:nvPr/>
        </p:nvSpPr>
        <p:spPr>
          <a:xfrm>
            <a:off x="6667500" y="2286000"/>
            <a:ext cx="4905375" cy="3524250"/>
          </a:xfrm>
          <a:prstGeom prst="rect">
            <a:avLst/>
          </a:prstGeom>
          <a:noFill/>
          <a:ln>
            <a:noFill/>
          </a:ln>
        </p:spPr>
        <p:txBody>
          <a:bodyPr wrap="none" lIns="0" tIns="0" rIns="0" bIns="0" anchor="t">
            <a:noAutofit/>
          </a:bodyPr>
          <a:lstStyle/>
          <a:p>
            <a:pPr>
              <a:lnSpc>
                <a:spcPts val="2495"/>
              </a:lnSpc>
              <a:buNone/>
            </a:pPr>
            <a:r>
              <a:rPr lang="vi-VN" sz="1950" b="0">
                <a:solidFill>
                  <a:srgbClr val="20213B"/>
                </a:solidFill>
                <a:latin typeface="Arial" panose="020B0604020202020204"/>
                <a:ea typeface="Arial" panose="020B0604020202020204"/>
                <a:cs typeface="Arial" panose="020B0604020202020204"/>
              </a:rPr>
              <a:t>Phụ thuộc kết nối mạng.</a:t>
            </a:r>
            <a:endParaRPr lang="vi-VN" sz="1950"/>
          </a:p>
          <a:p>
            <a:pPr>
              <a:lnSpc>
                <a:spcPts val="2495"/>
              </a:lnSpc>
              <a:buNone/>
            </a:pPr>
            <a:endParaRPr lang="vi-VN" sz="1950"/>
          </a:p>
          <a:p>
            <a:pPr>
              <a:lnSpc>
                <a:spcPts val="2495"/>
              </a:lnSpc>
              <a:buNone/>
            </a:pPr>
            <a:r>
              <a:rPr lang="vi-VN" sz="1950" b="0">
                <a:solidFill>
                  <a:srgbClr val="20213B"/>
                </a:solidFill>
                <a:latin typeface="Arial" panose="020B0604020202020204"/>
                <a:ea typeface="Arial" panose="020B0604020202020204"/>
                <a:cs typeface="Arial" panose="020B0604020202020204"/>
              </a:rPr>
              <a:t>Chưa đầy đủ offline và thời gian thực.</a:t>
            </a:r>
            <a:endParaRPr lang="vi-VN" sz="1950"/>
          </a:p>
          <a:p>
            <a:pPr>
              <a:lnSpc>
                <a:spcPts val="2495"/>
              </a:lnSpc>
              <a:buNone/>
            </a:pPr>
            <a:endParaRPr lang="vi-VN" sz="1950"/>
          </a:p>
          <a:p>
            <a:pPr>
              <a:lnSpc>
                <a:spcPts val="2495"/>
              </a:lnSpc>
              <a:buNone/>
            </a:pPr>
            <a:r>
              <a:rPr lang="vi-VN" sz="1950" b="0">
                <a:solidFill>
                  <a:srgbClr val="20213B"/>
                </a:solidFill>
                <a:latin typeface="Arial" panose="020B0604020202020204"/>
                <a:ea typeface="Arial" panose="020B0604020202020204"/>
                <a:cs typeface="Arial" panose="020B0604020202020204"/>
              </a:rPr>
              <a:t>Chưa tích hợp thông báo nhắc việc.</a:t>
            </a:r>
            <a:endParaRPr lang="vi-VN" sz="1950"/>
          </a:p>
          <a:p>
            <a:pPr>
              <a:lnSpc>
                <a:spcPts val="2495"/>
              </a:lnSpc>
              <a:buNone/>
            </a:pPr>
            <a:endParaRPr lang="vi-VN" sz="1950"/>
          </a:p>
          <a:p>
            <a:pPr>
              <a:lnSpc>
                <a:spcPts val="2495"/>
              </a:lnSpc>
              <a:buNone/>
            </a:pPr>
            <a:r>
              <a:rPr lang="vi-VN" sz="1950" b="0">
                <a:solidFill>
                  <a:srgbClr val="20213B"/>
                </a:solidFill>
                <a:latin typeface="Arial" panose="020B0604020202020204"/>
                <a:ea typeface="Arial" panose="020B0604020202020204"/>
                <a:cs typeface="Arial" panose="020B0604020202020204"/>
              </a:rPr>
              <a:t>Phân quyền nâng cao và UI/UX</a:t>
            </a:r>
            <a:endParaRPr lang="vi-VN" sz="1950"/>
          </a:p>
          <a:p>
            <a:pPr>
              <a:lnSpc>
                <a:spcPts val="2495"/>
              </a:lnSpc>
              <a:buNone/>
            </a:pPr>
            <a:r>
              <a:rPr lang="vi-VN" sz="1950" b="0">
                <a:solidFill>
                  <a:srgbClr val="20213B"/>
                </a:solidFill>
                <a:latin typeface="Arial" panose="020B0604020202020204"/>
                <a:ea typeface="Arial" panose="020B0604020202020204"/>
                <a:cs typeface="Arial" panose="020B0604020202020204"/>
              </a:rPr>
              <a:t>cần tiếp tục hoàn thiện.</a:t>
            </a:r>
            <a:endParaRPr lang="vi-VN" sz="19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D"/>
        </a:solidFill>
        <a:effectLst/>
      </p:bgPr>
    </p:bg>
    <p:spTree>
      <p:nvGrpSpPr>
        <p:cNvPr id="1" name=""/>
        <p:cNvGrpSpPr/>
        <p:nvPr/>
      </p:nvGrpSpPr>
      <p:grpSpPr>
        <a:xfrm>
          <a:off x="0" y="0"/>
          <a:ext cx="0" cy="0"/>
          <a:chOff x="0" y="0"/>
          <a:chExt cx="0" cy="0"/>
        </a:xfrm>
      </p:grpSpPr>
      <p:sp>
        <p:nvSpPr>
          <p:cNvPr id="2" name="Hướng phát triển"/>
          <p:cNvSpPr txBox="1"/>
          <p:nvPr/>
        </p:nvSpPr>
        <p:spPr>
          <a:xfrm>
            <a:off x="609600" y="419100"/>
            <a:ext cx="10972800" cy="666750"/>
          </a:xfrm>
          <a:prstGeom prst="rect">
            <a:avLst/>
          </a:prstGeom>
          <a:noFill/>
          <a:ln>
            <a:noFill/>
          </a:ln>
        </p:spPr>
        <p:txBody>
          <a:bodyPr wrap="none" lIns="0" tIns="0" rIns="0" bIns="0" anchor="t">
            <a:noAutofit/>
          </a:bodyPr>
          <a:lstStyle/>
          <a:p>
            <a:pPr>
              <a:lnSpc>
                <a:spcPts val="4225"/>
              </a:lnSpc>
              <a:buNone/>
            </a:pPr>
            <a:r>
              <a:rPr lang="vi-VN" sz="3300" b="1">
                <a:solidFill>
                  <a:srgbClr val="20213B"/>
                </a:solidFill>
                <a:latin typeface="Arial" panose="020B0604020202020204"/>
                <a:ea typeface="Arial" panose="020B0604020202020204"/>
                <a:cs typeface="Arial" panose="020B0604020202020204"/>
              </a:rPr>
              <a:t>Hướng phát triển</a:t>
            </a:r>
            <a:endParaRPr lang="vi-VN" sz="3300"/>
          </a:p>
        </p:txBody>
      </p:sp>
      <p:sp>
        <p:nvSpPr>
          <p:cNvPr id="3" name="15"/>
          <p:cNvSpPr txBox="1"/>
          <p:nvPr/>
        </p:nvSpPr>
        <p:spPr>
          <a:xfrm>
            <a:off x="11191875" y="6400800"/>
            <a:ext cx="428625" cy="238125"/>
          </a:xfrm>
          <a:prstGeom prst="rect">
            <a:avLst/>
          </a:prstGeom>
          <a:noFill/>
          <a:ln>
            <a:noFill/>
          </a:ln>
        </p:spPr>
        <p:txBody>
          <a:bodyPr wrap="none" lIns="0" tIns="0" rIns="0" bIns="0" anchor="t">
            <a:noAutofit/>
          </a:bodyPr>
          <a:lstStyle/>
          <a:p>
            <a:pPr>
              <a:lnSpc>
                <a:spcPts val="1535"/>
              </a:lnSpc>
              <a:buNone/>
            </a:pPr>
            <a:r>
              <a:rPr lang="vi-VN" sz="1200" b="0">
                <a:solidFill>
                  <a:srgbClr val="606777"/>
                </a:solidFill>
                <a:latin typeface="Arial" panose="020B0604020202020204"/>
                <a:ea typeface="Arial" panose="020B0604020202020204"/>
                <a:cs typeface="Arial" panose="020B0604020202020204"/>
              </a:rPr>
              <a:t>15</a:t>
            </a:r>
            <a:endParaRPr lang="vi-VN" sz="1200"/>
          </a:p>
        </p:txBody>
      </p:sp>
      <p:sp>
        <p:nvSpPr>
          <p:cNvPr id="4" name="Hoàn thiện chức năng"/>
          <p:cNvSpPr txBox="1"/>
          <p:nvPr/>
        </p:nvSpPr>
        <p:spPr>
          <a:xfrm>
            <a:off x="609600" y="1562100"/>
            <a:ext cx="5238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Hoàn thiện chức năng</a:t>
            </a:r>
            <a:endParaRPr lang="vi-VN" sz="2100"/>
          </a:p>
        </p:txBody>
      </p:sp>
      <p:sp>
        <p:nvSpPr>
          <p:cNvPr id="5" name="Thông báo nhắc việc và cập nhật"/>
          <p:cNvSpPr txBox="1"/>
          <p:nvPr/>
        </p:nvSpPr>
        <p:spPr>
          <a:xfrm>
            <a:off x="609600" y="1990725"/>
            <a:ext cx="5238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Thông báo nhắc việc và cập nhật</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dữ liệu theo thời gian thực.</a:t>
            </a:r>
            <a:endParaRPr lang="vi-VN" sz="1875"/>
          </a:p>
        </p:txBody>
      </p:sp>
      <p:sp>
        <p:nvSpPr>
          <p:cNvPr id="6" name="Mở rộng phân quyền"/>
          <p:cNvSpPr txBox="1"/>
          <p:nvPr/>
        </p:nvSpPr>
        <p:spPr>
          <a:xfrm>
            <a:off x="6667500" y="1562100"/>
            <a:ext cx="49053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Mở rộng phân quyền</a:t>
            </a:r>
            <a:endParaRPr lang="vi-VN" sz="2100"/>
          </a:p>
        </p:txBody>
      </p:sp>
      <p:sp>
        <p:nvSpPr>
          <p:cNvPr id="7" name="Quyền chi tiết cho Admin,"/>
          <p:cNvSpPr txBox="1"/>
          <p:nvPr/>
        </p:nvSpPr>
        <p:spPr>
          <a:xfrm>
            <a:off x="6667500" y="1990725"/>
            <a:ext cx="49053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Quyền chi tiết cho Admin,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Manager và User.</a:t>
            </a:r>
            <a:endParaRPr lang="vi-VN" sz="1875"/>
          </a:p>
        </p:txBody>
      </p:sp>
      <p:sp>
        <p:nvSpPr>
          <p:cNvPr id="8" name="Cải thiện trải nghiệm"/>
          <p:cNvSpPr txBox="1"/>
          <p:nvPr/>
        </p:nvSpPr>
        <p:spPr>
          <a:xfrm>
            <a:off x="609600" y="3552825"/>
            <a:ext cx="5238750"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Cải thiện trải nghiệm</a:t>
            </a:r>
            <a:endParaRPr lang="vi-VN" sz="2100"/>
          </a:p>
        </p:txBody>
      </p:sp>
      <p:sp>
        <p:nvSpPr>
          <p:cNvPr id="9" name="Tối ưu UI/UX theo Material Design,"/>
          <p:cNvSpPr txBox="1"/>
          <p:nvPr/>
        </p:nvSpPr>
        <p:spPr>
          <a:xfrm>
            <a:off x="609600" y="3981450"/>
            <a:ext cx="5238750"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Tối ưu UI/UX theo Material Design,</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nâng cấp thống kê và báo cáo.</a:t>
            </a:r>
            <a:endParaRPr lang="vi-VN" sz="1875"/>
          </a:p>
        </p:txBody>
      </p:sp>
      <p:sp>
        <p:nvSpPr>
          <p:cNvPr id="10" name="Tăng khả năng cộng tác"/>
          <p:cNvSpPr txBox="1"/>
          <p:nvPr/>
        </p:nvSpPr>
        <p:spPr>
          <a:xfrm>
            <a:off x="6667500" y="3552825"/>
            <a:ext cx="4905375" cy="361950"/>
          </a:xfrm>
          <a:prstGeom prst="rect">
            <a:avLst/>
          </a:prstGeom>
          <a:noFill/>
          <a:ln>
            <a:noFill/>
          </a:ln>
        </p:spPr>
        <p:txBody>
          <a:bodyPr wrap="none" lIns="0" tIns="0" rIns="0" bIns="0" anchor="t">
            <a:noAutofit/>
          </a:bodyPr>
          <a:lstStyle/>
          <a:p>
            <a:pPr>
              <a:lnSpc>
                <a:spcPts val="2690"/>
              </a:lnSpc>
              <a:buNone/>
            </a:pPr>
            <a:r>
              <a:rPr lang="vi-VN" sz="2100" b="1">
                <a:solidFill>
                  <a:srgbClr val="554CEC"/>
                </a:solidFill>
                <a:latin typeface="Arial" panose="020B0604020202020204"/>
                <a:ea typeface="Arial" panose="020B0604020202020204"/>
                <a:cs typeface="Arial" panose="020B0604020202020204"/>
              </a:rPr>
              <a:t>Tăng khả năng cộng tác</a:t>
            </a:r>
            <a:endParaRPr lang="vi-VN" sz="2100"/>
          </a:p>
        </p:txBody>
      </p:sp>
      <p:sp>
        <p:nvSpPr>
          <p:cNvPr id="11" name="Cải thiện xử lý đồng thời"/>
          <p:cNvSpPr txBox="1"/>
          <p:nvPr/>
        </p:nvSpPr>
        <p:spPr>
          <a:xfrm>
            <a:off x="6667500" y="3981450"/>
            <a:ext cx="4905375" cy="1000125"/>
          </a:xfrm>
          <a:prstGeom prst="rect">
            <a:avLst/>
          </a:prstGeom>
          <a:noFill/>
          <a:ln>
            <a:noFill/>
          </a:ln>
        </p:spPr>
        <p:txBody>
          <a:bodyPr wrap="none" lIns="0" tIns="0" rIns="0" bIns="0" anchor="t">
            <a:noAutofit/>
          </a:bodyPr>
          <a:lstStyle/>
          <a:p>
            <a:pPr>
              <a:lnSpc>
                <a:spcPts val="2400"/>
              </a:lnSpc>
              <a:buNone/>
            </a:pPr>
            <a:r>
              <a:rPr lang="vi-VN" sz="1875" b="0">
                <a:solidFill>
                  <a:srgbClr val="20213B"/>
                </a:solidFill>
                <a:latin typeface="Arial" panose="020B0604020202020204"/>
                <a:ea typeface="Arial" panose="020B0604020202020204"/>
                <a:cs typeface="Arial" panose="020B0604020202020204"/>
              </a:rPr>
              <a:t>Cải thiện xử lý đồng thời</a:t>
            </a:r>
            <a:endParaRPr lang="vi-VN" sz="1875"/>
          </a:p>
          <a:p>
            <a:pPr>
              <a:lnSpc>
                <a:spcPts val="2400"/>
              </a:lnSpc>
              <a:buNone/>
            </a:pPr>
            <a:r>
              <a:rPr lang="vi-VN" sz="1875" b="0">
                <a:solidFill>
                  <a:srgbClr val="20213B"/>
                </a:solidFill>
                <a:latin typeface="Arial" panose="020B0604020202020204"/>
                <a:ea typeface="Arial" panose="020B0604020202020204"/>
                <a:cs typeface="Arial" panose="020B0604020202020204"/>
              </a:rPr>
              <a:t>và chia sẻ công việc.</a:t>
            </a:r>
            <a:endParaRPr lang="vi-VN" sz="1875"/>
          </a:p>
        </p:txBody>
      </p:sp>
      <p:sp>
        <p:nvSpPr>
          <p:cNvPr id="12" name="CẢM ƠN THẦY CÔ ĐÃ LẮNG NGHE"/>
          <p:cNvSpPr txBox="1"/>
          <p:nvPr/>
        </p:nvSpPr>
        <p:spPr>
          <a:xfrm>
            <a:off x="609600" y="5734050"/>
            <a:ext cx="10763250" cy="495300"/>
          </a:xfrm>
          <a:prstGeom prst="rect">
            <a:avLst/>
          </a:prstGeom>
          <a:noFill/>
          <a:ln>
            <a:noFill/>
          </a:ln>
        </p:spPr>
        <p:txBody>
          <a:bodyPr wrap="none" lIns="0" tIns="0" rIns="0" bIns="0" anchor="t">
            <a:noAutofit/>
          </a:bodyPr>
          <a:lstStyle/>
          <a:p>
            <a:pPr>
              <a:lnSpc>
                <a:spcPts val="3265"/>
              </a:lnSpc>
              <a:buNone/>
            </a:pPr>
            <a:r>
              <a:rPr lang="vi-VN" sz="2550" b="1">
                <a:solidFill>
                  <a:srgbClr val="554CEC"/>
                </a:solidFill>
                <a:latin typeface="Arial" panose="020B0604020202020204"/>
                <a:ea typeface="Arial" panose="020B0604020202020204"/>
                <a:cs typeface="Arial" panose="020B0604020202020204"/>
              </a:rPr>
              <a:t>CẢM ƠN THẦY CÔ ĐÃ LẮNG NGHE</a:t>
            </a:r>
            <a:endParaRPr lang="vi-VN" sz="2550"/>
          </a:p>
        </p:txBody>
      </p:sp>
    </p:spTree>
  </p:cSld>
  <p:clrMapOvr>
    <a:masterClrMapping/>
  </p:clrMapOvr>
</p:sld>
</file>

<file path=ppt/theme/theme1.xml><?xml version="1.0" encoding="utf-8"?>
<a:theme xmlns:a="http://schemas.openxmlformats.org/drawingml/2006/main" name="TaskMaster">
  <a:themeElements>
    <a:clrScheme name="TaskMaster">
      <a:dk1>
        <a:srgbClr val="20213B"/>
      </a:dk1>
      <a:lt1>
        <a:srgbClr val="FFFFFF"/>
      </a:lt1>
      <a:dk2>
        <a:srgbClr val="34364C"/>
      </a:dk2>
      <a:lt2>
        <a:srgbClr val="FAFAFD"/>
      </a:lt2>
      <a:accent1>
        <a:srgbClr val="554CEC"/>
      </a:accent1>
      <a:accent2>
        <a:srgbClr val="18A999"/>
      </a:accent2>
      <a:accent3>
        <a:srgbClr val="F1B24A"/>
      </a:accent3>
      <a:accent4>
        <a:srgbClr val="6D83F2"/>
      </a:accent4>
      <a:accent5>
        <a:srgbClr val="AF80DF"/>
      </a:accent5>
      <a:accent6>
        <a:srgbClr val="8298AD"/>
      </a:accent6>
      <a:hlink>
        <a:srgbClr val="554CEC"/>
      </a:hlink>
      <a:folHlink>
        <a:srgbClr val="954F72"/>
      </a:folHlink>
    </a:clrScheme>
    <a:fontScheme name="Arial">
      <a:majorFont>
        <a:latin typeface="Arial"/>
        <a:ea typeface=""/>
        <a:cs typeface=""/>
      </a:majorFont>
      <a:minorFont>
        <a:latin typeface="Arial"/>
        <a:ea typeface=""/>
        <a:cs typeface=""/>
      </a:minorFont>
    </a:fontScheme>
    <a:fmtScheme name="Simple">
      <a:fillStyleLst>
        <a:solidFill>
          <a:schemeClr val="phClr"/>
        </a:solidFill>
        <a:solidFill>
          <a:schemeClr val="phClr"/>
        </a:solidFill>
        <a:solidFill>
          <a:schemeClr val="phClr"/>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askMaster">
  <a:themeElements>
    <a:clrScheme name="TaskMaster">
      <a:dk1>
        <a:srgbClr val="20213B"/>
      </a:dk1>
      <a:lt1>
        <a:srgbClr val="FFFFFF"/>
      </a:lt1>
      <a:dk2>
        <a:srgbClr val="34364C"/>
      </a:dk2>
      <a:lt2>
        <a:srgbClr val="FAFAFD"/>
      </a:lt2>
      <a:accent1>
        <a:srgbClr val="554CEC"/>
      </a:accent1>
      <a:accent2>
        <a:srgbClr val="18A999"/>
      </a:accent2>
      <a:accent3>
        <a:srgbClr val="F1B24A"/>
      </a:accent3>
      <a:accent4>
        <a:srgbClr val="6D83F2"/>
      </a:accent4>
      <a:accent5>
        <a:srgbClr val="AF80DF"/>
      </a:accent5>
      <a:accent6>
        <a:srgbClr val="8298AD"/>
      </a:accent6>
      <a:hlink>
        <a:srgbClr val="554CEC"/>
      </a:hlink>
      <a:folHlink>
        <a:srgbClr val="954F72"/>
      </a:folHlink>
    </a:clrScheme>
    <a:fontScheme name="Arial">
      <a:majorFont>
        <a:latin typeface="Arial"/>
        <a:ea typeface=""/>
        <a:cs typeface=""/>
      </a:majorFont>
      <a:minorFont>
        <a:latin typeface="Arial"/>
        <a:ea typeface=""/>
        <a:cs typeface=""/>
      </a:minorFont>
    </a:fontScheme>
    <a:fmtScheme name="Simple">
      <a:fillStyleLst>
        <a:solidFill>
          <a:schemeClr val="phClr"/>
        </a:solidFill>
        <a:solidFill>
          <a:schemeClr val="phClr"/>
        </a:solidFill>
        <a:solidFill>
          <a:schemeClr val="phClr"/>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4089</Words>
  <Application>WPS Presentation</Application>
  <PresentationFormat/>
  <Paragraphs>309</Paragraphs>
  <Slides>15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SimSun</vt:lpstr>
      <vt:lpstr>Wingdings</vt:lpstr>
      <vt:lpstr>Arial</vt:lpstr>
      <vt:lpstr>Microsoft YaHei</vt:lpstr>
      <vt:lpstr>Arial Unicode MS</vt:lpstr>
      <vt:lpstr>Wingdings</vt:lpstr>
      <vt:lpstr>Inter Bold</vt:lpstr>
      <vt:lpstr>Inter</vt:lpstr>
      <vt:lpstr>Manrope ExtraBold</vt:lpstr>
      <vt:lpstr>Lato</vt:lpstr>
      <vt:lpstr>Segoe Print</vt:lpstr>
      <vt:lpstr>江城圆体 400W</vt:lpstr>
      <vt:lpstr>Crimson Text SemiBold</vt:lpstr>
      <vt:lpstr>Charis SIL</vt:lpstr>
      <vt:lpstr>Nunito Sans ExtraBold</vt:lpstr>
      <vt:lpstr>Nunito Sans</vt:lpstr>
      <vt:lpstr>TaskMaster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Truong Nguyen</cp:lastModifiedBy>
  <cp:revision>1</cp:revision>
  <dcterms:created xsi:type="dcterms:W3CDTF">2026-10-05T09:25:15Z</dcterms:created>
  <dcterms:modified xsi:type="dcterms:W3CDTF">2026-10-05T09:25:15Z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7018F5F8B3F84DEB917BC3D47E7D6BCF_12</vt:lpwstr>
  </property>
  <property fmtid="{D5CDD505-2E9C-101B-9397-08002B2CF9AE}" pid="3" name="KSOProductBuildVer">
    <vt:lpwstr>1033-12.1.0.28485</vt:lpwstr>
  </property>
</Properties>
</file>